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完走率 (%)</c:v>
                </c:pt>
              </c:strCache>
            </c:strRef>
          </c:tx>
          <c:spPr>
            <a:solidFill>
              <a:srgbClr val="2FD9F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一般的な MOOC</c:v>
                  </c:pt>
                  <c:pt idx="1">
                    <c:v>従来の技術ブログ</c:v>
                  </c:pt>
                  <c:pt idx="2">
                    <c:v>geodyssAI (目標)</c:v>
                  </c:pt>
                </c:lvl>
              </c:multiLvlStrCache>
            </c:multiLvlStrRef>
          </c:cat>
          <c:val>
            <c:numRef>
              <c:f>Sheet1!$B$2:$B$4</c:f>
              <c:numCache>
                <c:formatCode>General</c:formatCode>
                <c:ptCount val="3"/>
                <c:pt idx="0">
                  <c:v>9</c:v>
                </c:pt>
                <c:pt idx="1">
                  <c:v>12</c:v>
                </c:pt>
                <c:pt idx="2">
                  <c:v>30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12700" cap="flat">
              <a:solidFill>
                <a:srgbClr val="1E293B"/>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皆様、こんにちは。Yuta Tokita と申します。本日は Google AI Dojo シーズン2 の成果物として構築いたしました『geodyssAI (星海図)』についてプレゼンテーションさせていただきます。
AI技術が爆発的に進化する現代において、エンジニアは「情報過多」と「学びの単発化」に直面しています。geodyssAI は、Astro × Firebase × Vertex AI / Gemini 3.5 Flash を駆使し、知識の意味空間を3D可視化することで「学びの定着」と「技術者のブランド価値」を同時に高める次世代のナレッジプラットフォームです。本日はそのアーキテクチャ、ビジネス的価値、および実証データについて詳しくご説明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エグゼクティブサマリーです。geodyssAI は単なるリッチな個人ブログではありません。社会課題であるIT人材不足に対し、「自習コンテンツでの学びの定着」と「エンジニアのブランド価値向上」という2つの深さ型課題を、テクノロジーと体験設計によって同時に解決するプロダクトです。WordPressからHeadless構成に切り替えることで、年間85%のコスト削減を達成しつつ、Accentureの調査で示されている「体験を再構築した企業が6倍の利益成長を実現する」という事業価値を証明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課題Aについて解説します。なぜ既存のQiitaやZenn、WordPressブログでは学習が長続きしないのでしょうか。情報探索理論によれば、既存の検索フォームやタグは「探すものが既に決まっている lookup 行動」には適していますが、「何を学ぶべきかわからない探索的学習」では機能しません。その結果、直帰率が高くMOOCの完走率は5〜13%と超低水準です。geodyssAI は意味的距離と難易度を 3D 空間で可視化することで、読者が「自分の現在地」を把握できる空間ナビゲーションを提供します。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課題B、すなわちブランドと体験の事業価値について説明します。Accenture Song の最新調査によると、経営層の73%が「生成AI時代に自社が没個性の海に埋もれる」ことを懸念しています。これはエンジニアの個人ブランディングでも全く同じです。どんなに素晴らしい技術記事を書いても、平凡なブログでは価値が伝わりません。体験を中心にした企業が6倍の成長を遂げるように、geodyssAI はコンテンツと没入型UI体験を融合させ、技術者のブランド価値を最大化します。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デモ発表でご体験いただく geodyssai.com の主要5画面について説明します。単なるトップページだけでなく、全28記事が星として輝く「3D星海図」、要約と学習導線を提示する「記事詳細」、星座ごとの進捗を追う「展望台」、全端末リアルタイム同期の「星海酒場」、そして深海潜航アニメーションの「キャプテンアビス」まで、あらゆる画面が読者の学びと没入感を支える役割を持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ソリューションの核心である 3D 意味空間アーキテクチャです。全28本の記事を Vertex AI の `text-embedding-005` モデルで768次元のベクトル空間に埋め込み、UMAP アルゴリズムによって意味的に類似した記事同士が自然に近くに集まる3D空間へ圧縮しています。さらに Gemini 2.5/3.5 Flash が記事の難易度を5段階で評価し、Z軸の「アビス（深海）深度」としてマッピングしています。これにより、単なる視覚効果ではなく「意味と難易度を直感理解できる空間地図」を実現しました。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AI ナビゲーター「マンチカン航海士」についてです。公式の `@google/genai` SDK を通じて現行最新の `gemini-3.5-flash` モデルを統合し、さらに Google 検索 Grounding を有効化しています。これにより、単なる静的な記事提示にとどまらず、最新の技術動向を踏まえた動的な質問応答と「3ステップ学習ロードマップ」を可愛らしい語尾（〜にゃ）で提供し、ユーザーの学習意欲を持続さ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1枚絵で表現する Agentic Era の自律統合開発パイプラインです。まず NotebookLM に論文や構想資料を読み込ませて AGENTS.md と DESIGN.md の骨子と要件を自動生成。次に Google Stitch で Seikai カラーパレットとUIコンポーネントを作成し、StitchMCP ツールでデザインデータをダイレクト連携。最後に Google DeepMind の Antigravity Agent (Gemini 3.5) がコード実装からデプロイまでを一気通貫で自動化しました。まさに一人開発の限界を突破する新しい開発パラダイムです。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パフォーマンスとインフラコストの改革についてです。Google の1,100万件のモバイル分析によれば、ページ表示が1秒から10秒に伸びると離脱確率は123%上昇します。したがって「LCP &lt; 2.5s」の追求は単なる自己満足ではなく、読者の離脱を防ぐ業界標準の必須条件です。WordPressからAstro SSG ＋ Firebase Hosting へ全面移行したことで、瞬間表示を実現すると同時に年間固定費を85%削減いたしました。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セキュリティとリアルタイム同期基盤についてです。本物 reCAPTCHA Enterprise サイトキーを組み込んだ Firebase App Check を導入し、BOT攻撃や不当なAPIリクエストからリソースを鉄壁保護しています。さらに「星海酒場 (Stellar Tavern)」機能では、Firestore の onSnapshot リアルタイムリスナーと Admin SDK 特権APIを組み合わせ、Mac・スマホ・未ログインを問わず、全端末間でリアルタイムにディスカッションが同期される環境を構築いたしました。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モバイルレスポンシブ設計についてです。スマートフォンでの閲覧時、デスクトップ用の3Dカードや凡例、AIガイドが重なってしまう問題がありました。バージョン1.2.1において、画面下に収まる「ボトムシート」パターンを採用し、重なりを完全にゼロ化いたしました。また、サイドバーも最左端 `left-0` 吸着のドロワー構造へ修正し、画面の狭いスマートフォンでも快適に3D宇宙を探訪できるネイティブアプリと同等のUXを実現しています。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定量検証モデルとプロダクトKPIです。審査において「この課題は本当に測れるのか」という問いに対し、私たちは明確な数字を定めています。一般的なオンライン学習（MOOC）や技術ブログの完走率は5〜13%と非常に低いですが、geodyssAI では3D空間導線とAI指導により「星座完成率（カテゴリ内記事読破率）30%」を目指します。また回遊率を1.2から3.5ページへ向上させる検証モデルを設計しています。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GitHub 上でのアジリティと品質管理についてです。本プロジェクトはただ動くものを作っただけでなく、27のIssue、28のPR、そして12のADR（アーキテクチャ意思決定記録）を通じて、全てのコード変更と技術的決定の根拠を完全にドキュメント化し透明性を担保しています。万が一の不具合時にもワンコマンドで安全にロールバックできる高度な開発プロセスを確立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【発表者ノート】
最後に将来展望と Cloud Next Tokyo でのデモ発表についてです。geodyssAI は単なる個人のポートフォリオにとどまらず、将来的には企業内の Notion や Confluence などのドキュメント群を自動で3D ナレッジグラフ化するプラットフォームへと進化可能です。上位5名に選出していただけましたら、Google Cloud Next Tokyo のステージにて、会場の皆様が圧倒されるようなリアルタイム 3D 星海図と Gemini AI のインタラクティブなデモストレーションを披露することをお約束いたします。ご清聴ありがとうございました。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731520" y="731520"/>
            <a:ext cx="10725912" cy="5394960"/>
          </a:xfrm>
          <a:prstGeom prst="roundRect">
            <a:avLst>
              <a:gd name="adj" fmla="val 2542"/>
            </a:avLst>
          </a:prstGeom>
          <a:solidFill>
            <a:srgbClr val="131C31"/>
          </a:solidFill>
          <a:ln w="19050">
            <a:solidFill>
              <a:srgbClr val="1E293B"/>
            </a:solidFill>
            <a:prstDash val="solid"/>
          </a:ln>
        </p:spPr>
      </p:sp>
      <p:sp>
        <p:nvSpPr>
          <p:cNvPr id="3" name="Text 1"/>
          <p:cNvSpPr/>
          <p:nvPr/>
        </p:nvSpPr>
        <p:spPr>
          <a:xfrm>
            <a:off x="1097280" y="1188720"/>
            <a:ext cx="9966960" cy="914400"/>
          </a:xfrm>
          <a:prstGeom prst="rect">
            <a:avLst/>
          </a:prstGeom>
          <a:noFill/>
          <a:ln/>
        </p:spPr>
        <p:txBody>
          <a:bodyPr wrap="square" lIns="0" tIns="0" rIns="0" bIns="0" rtlCol="0" anchor="ctr"/>
          <a:lstStyle/>
          <a:p>
            <a:pPr indent="0" marL="0">
              <a:buNone/>
            </a:pPr>
            <a:r>
              <a:rPr lang="en-US" sz="4800" b="1" dirty="0">
                <a:solidFill>
                  <a:srgbClr val="2FD9F4"/>
                </a:solidFill>
                <a:latin typeface="Orbitron" pitchFamily="34" charset="0"/>
                <a:ea typeface="Orbitron" pitchFamily="34" charset="-122"/>
                <a:cs typeface="Orbitron" pitchFamily="34" charset="-120"/>
              </a:rPr>
              <a:t>geodyssAI</a:t>
            </a:r>
            <a:endParaRPr lang="en-US" sz="4800" dirty="0"/>
          </a:p>
        </p:txBody>
      </p:sp>
      <p:sp>
        <p:nvSpPr>
          <p:cNvPr id="4" name="Text 2"/>
          <p:cNvSpPr/>
          <p:nvPr/>
        </p:nvSpPr>
        <p:spPr>
          <a:xfrm>
            <a:off x="1097280" y="2194560"/>
            <a:ext cx="9966960" cy="548640"/>
          </a:xfrm>
          <a:prstGeom prst="rect">
            <a:avLst/>
          </a:prstGeom>
          <a:noFill/>
          <a:ln/>
        </p:spPr>
        <p:txBody>
          <a:bodyPr wrap="square" lIns="0" tIns="0" rIns="0" bIns="0"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知識の意味空間を3D可視化し、「学びの定着」と「技術者のブランド価値」を解く</a:t>
            </a:r>
            <a:endParaRPr lang="en-US" sz="2000" dirty="0"/>
          </a:p>
        </p:txBody>
      </p:sp>
      <p:sp>
        <p:nvSpPr>
          <p:cNvPr id="5" name="Text 3"/>
          <p:cNvSpPr/>
          <p:nvPr/>
        </p:nvSpPr>
        <p:spPr>
          <a:xfrm>
            <a:off x="1097280" y="2834640"/>
            <a:ext cx="9966960" cy="365760"/>
          </a:xfrm>
          <a:prstGeom prst="rect">
            <a:avLst/>
          </a:prstGeom>
          <a:noFill/>
          <a:ln/>
        </p:spPr>
        <p:txBody>
          <a:bodyPr wrap="square" lIns="0" tIns="0" rIns="0" bIns="0" rtlCol="0" anchor="ctr"/>
          <a:lstStyle/>
          <a:p>
            <a:pPr indent="0" marL="0">
              <a:buNone/>
            </a:pPr>
            <a:r>
              <a:rPr lang="en-US" sz="1300" i="1" dirty="0">
                <a:solidFill>
                  <a:srgbClr val="38BDF8"/>
                </a:solidFill>
                <a:latin typeface="Inter" pitchFamily="34" charset="0"/>
                <a:ea typeface="Inter" pitchFamily="34" charset="-122"/>
                <a:cs typeface="Inter" pitchFamily="34" charset="-120"/>
              </a:rPr>
              <a:t>- Your Compass to navigate the AI-natives, One Voyage at a Time -</a:t>
            </a:r>
            <a:endParaRPr lang="en-US" sz="1300" dirty="0"/>
          </a:p>
        </p:txBody>
      </p:sp>
      <p:sp>
        <p:nvSpPr>
          <p:cNvPr id="6" name="Shape 4"/>
          <p:cNvSpPr/>
          <p:nvPr/>
        </p:nvSpPr>
        <p:spPr>
          <a:xfrm>
            <a:off x="1097280" y="3566160"/>
            <a:ext cx="9966960" cy="2194560"/>
          </a:xfrm>
          <a:prstGeom prst="roundRect">
            <a:avLst>
              <a:gd name="adj" fmla="val 4167"/>
            </a:avLst>
          </a:prstGeom>
          <a:solidFill>
            <a:srgbClr val="0E172A"/>
          </a:solidFill>
          <a:ln w="12700">
            <a:solidFill>
              <a:srgbClr val="1E293B"/>
            </a:solidFill>
            <a:prstDash val="solid"/>
          </a:ln>
        </p:spPr>
      </p:sp>
      <p:sp>
        <p:nvSpPr>
          <p:cNvPr id="7" name="Text 5"/>
          <p:cNvSpPr/>
          <p:nvPr/>
        </p:nvSpPr>
        <p:spPr>
          <a:xfrm>
            <a:off x="1280160" y="3749040"/>
            <a:ext cx="9601200" cy="1828800"/>
          </a:xfrm>
          <a:prstGeom prst="rect">
            <a:avLst/>
          </a:prstGeom>
          <a:noFill/>
          <a:ln/>
        </p:spPr>
        <p:txBody>
          <a:bodyPr wrap="square" lIns="0" tIns="0" rIns="0" bIns="0" rtlCol="0" anchor="ctr"/>
          <a:lstStyle/>
          <a:p>
            <a:pPr indent="0" marL="0">
              <a:buNone/>
            </a:pPr>
            <a:r>
              <a:rPr lang="en-US" sz="1300" b="1" dirty="0">
                <a:solidFill>
                  <a:srgbClr val="38BDF8"/>
                </a:solidFill>
              </a:rPr>
              <a:t>Google AI Dojo Season 2 提出作品 / Cloud Next Tokyo デモ選考資料
</a:t>
            </a:r>
            <a:endParaRPr lang="en-US" sz="1300" dirty="0"/>
          </a:p>
          <a:p>
            <a:pPr indent="0" marL="0">
              <a:buNone/>
            </a:pPr>
            <a:r>
              <a:rPr lang="en-US" sz="1300" dirty="0">
                <a:solidFill>
                  <a:srgbClr val="94A3B8"/>
                </a:solidFill>
              </a:rPr>
              <a:t>発表者: </a:t>
            </a:r>
            <a:pPr indent="0" marL="0">
              <a:buNone/>
            </a:pPr>
            <a:r>
              <a:rPr lang="en-US" sz="1400" b="1" dirty="0">
                <a:solidFill>
                  <a:srgbClr val="FFFFFF"/>
                </a:solidFill>
              </a:rPr>
              <a:t>Yuta Tokita (AI Engineer / Data Scientist)
</a:t>
            </a:r>
            <a:endParaRPr lang="en-US" sz="1300" dirty="0"/>
          </a:p>
          <a:p>
            <a:pPr indent="0" marL="0">
              <a:buNone/>
            </a:pPr>
            <a:r>
              <a:rPr lang="en-US" sz="1200" dirty="0">
                <a:solidFill>
                  <a:srgbClr val="94A3B8"/>
                </a:solidFill>
              </a:rPr>
              <a:t>連絡先: </a:t>
            </a:r>
            <a:pPr indent="0" marL="0">
              <a:buNone/>
            </a:pPr>
            <a:r>
              <a:rPr lang="en-US" sz="1200" dirty="0">
                <a:solidFill>
                  <a:srgbClr val="FFFFFF"/>
                </a:solidFill>
              </a:rPr>
              <a:t>baotianyoutai1@gmail.com   |   </a:t>
            </a:r>
            <a:pPr indent="0" marL="0">
              <a:buNone/>
            </a:pPr>
            <a:r>
              <a:rPr lang="en-US" sz="1200" dirty="0">
                <a:solidFill>
                  <a:srgbClr val="94A3B8"/>
                </a:solidFill>
              </a:rPr>
              <a:t>GitHub: </a:t>
            </a:r>
            <a:pPr indent="0" marL="0">
              <a:buNone/>
            </a:pPr>
            <a:r>
              <a:rPr lang="en-US" sz="1200" dirty="0">
                <a:solidFill>
                  <a:srgbClr val="2FD9F4"/>
                </a:solidFill>
              </a:rPr>
              <a:t>https://github.com/baotianyoutai/geodyssAI
</a:t>
            </a:r>
            <a:endParaRPr lang="en-US" sz="1300" dirty="0"/>
          </a:p>
          <a:p>
            <a:pPr indent="0" marL="0">
              <a:buNone/>
            </a:pPr>
            <a:r>
              <a:rPr lang="en-US" sz="1300" b="1" dirty="0">
                <a:solidFill>
                  <a:srgbClr val="FBBF24"/>
                </a:solidFill>
              </a:rPr>
              <a:t>本番稼働 URL: </a:t>
            </a:r>
            <a:pPr indent="0" marL="0">
              <a:buNone/>
            </a:pPr>
            <a:r>
              <a:rPr lang="en-US" sz="1400" b="1" dirty="0">
                <a:solidFill>
                  <a:srgbClr val="2FD9F4"/>
                </a:solidFill>
              </a:rPr>
              <a:t>https://www.geodyssai.com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01. SUMMARY</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2030年 先端IT人材12.4万人不足時代における「体験・ブランド駆動型」知覚ナレッジ基盤</a:t>
            </a:r>
            <a:endParaRPr lang="en-US" sz="1900" dirty="0"/>
          </a:p>
        </p:txBody>
      </p:sp>
      <p:sp>
        <p:nvSpPr>
          <p:cNvPr id="5" name="Shape 3"/>
          <p:cNvSpPr/>
          <p:nvPr/>
        </p:nvSpPr>
        <p:spPr>
          <a:xfrm>
            <a:off x="548640" y="1463040"/>
            <a:ext cx="3474720" cy="4389120"/>
          </a:xfrm>
          <a:prstGeom prst="roundRect">
            <a:avLst>
              <a:gd name="adj" fmla="val 2632"/>
            </a:avLst>
          </a:prstGeom>
          <a:solidFill>
            <a:srgbClr val="131C31"/>
          </a:solidFill>
          <a:ln w="12700">
            <a:solidFill>
              <a:srgbClr val="1E293B"/>
            </a:solidFill>
            <a:prstDash val="solid"/>
          </a:ln>
        </p:spPr>
      </p:sp>
      <p:sp>
        <p:nvSpPr>
          <p:cNvPr id="6" name="Text 4"/>
          <p:cNvSpPr/>
          <p:nvPr/>
        </p:nvSpPr>
        <p:spPr>
          <a:xfrm>
            <a:off x="731520" y="1645920"/>
            <a:ext cx="3108960" cy="365760"/>
          </a:xfrm>
          <a:prstGeom prst="rect">
            <a:avLst/>
          </a:prstGeom>
          <a:noFill/>
          <a:ln/>
        </p:spPr>
        <p:txBody>
          <a:bodyPr wrap="square" rtlCol="0" anchor="ctr"/>
          <a:lstStyle/>
          <a:p>
            <a:pPr indent="0" marL="0">
              <a:buNone/>
            </a:pPr>
            <a:r>
              <a:rPr lang="en-US" sz="1300" b="1" dirty="0">
                <a:solidFill>
                  <a:srgbClr val="F87171"/>
                </a:solidFill>
              </a:rPr>
              <a:t>【課題】学びの単発化と没個性化</a:t>
            </a:r>
            <a:endParaRPr lang="en-US" sz="1300" dirty="0"/>
          </a:p>
        </p:txBody>
      </p:sp>
      <p:sp>
        <p:nvSpPr>
          <p:cNvPr id="7" name="Text 5"/>
          <p:cNvSpPr/>
          <p:nvPr/>
        </p:nvSpPr>
        <p:spPr>
          <a:xfrm>
            <a:off x="731520" y="2103120"/>
            <a:ext cx="3108960" cy="3474720"/>
          </a:xfrm>
          <a:prstGeom prst="rect">
            <a:avLst/>
          </a:prstGeom>
          <a:noFill/>
          <a:ln/>
        </p:spPr>
        <p:txBody>
          <a:bodyPr wrap="square" rtlCol="0" anchor="ctr"/>
          <a:lstStyle/>
          <a:p>
            <a:pPr indent="0" marL="0">
              <a:buNone/>
            </a:pPr>
            <a:r>
              <a:rPr lang="en-US" sz="1100" dirty="0">
                <a:solidFill>
                  <a:srgbClr val="94A3B8"/>
                </a:solidFill>
              </a:rPr>
              <a:t>• 2030年先端IT人材 </a:t>
            </a:r>
            <a:pPr indent="0" marL="0">
              <a:buNone/>
            </a:pPr>
            <a:r>
              <a:rPr lang="en-US" sz="1100" b="1" dirty="0">
                <a:solidFill>
                  <a:srgbClr val="F87171"/>
                </a:solidFill>
              </a:rPr>
              <a:t>12.4万人不足
</a:t>
            </a:r>
            <a:endParaRPr lang="en-US" sz="1100" dirty="0"/>
          </a:p>
          <a:p>
            <a:pPr indent="0" marL="0">
              <a:buNone/>
            </a:pPr>
            <a:r>
              <a:rPr lang="en-US" sz="1100" dirty="0">
                <a:solidFill>
                  <a:srgbClr val="94A3B8"/>
                </a:solidFill>
              </a:rPr>
              <a:t>• 従来のタグ・検索は lookup 専用であり、学習者が </a:t>
            </a:r>
            <a:pPr indent="0" marL="0">
              <a:buNone/>
            </a:pPr>
            <a:r>
              <a:rPr lang="en-US" sz="1100" dirty="0">
                <a:solidFill>
                  <a:srgbClr val="FBBF24"/>
                </a:solidFill>
              </a:rPr>
              <a:t>現在地を見失う
</a:t>
            </a:r>
            <a:endParaRPr lang="en-US" sz="1100" dirty="0"/>
          </a:p>
          <a:p>
            <a:pPr indent="0" marL="0">
              <a:buNone/>
            </a:pPr>
            <a:r>
              <a:rPr lang="en-US" sz="1100" dirty="0">
                <a:solidFill>
                  <a:srgbClr val="94A3B8"/>
                </a:solidFill>
              </a:rPr>
              <a:t>• 生成AI時代、</a:t>
            </a:r>
            <a:pPr indent="0" marL="0">
              <a:buNone/>
            </a:pPr>
            <a:r>
              <a:rPr lang="en-US" sz="1100" b="1" dirty="0">
                <a:solidFill>
                  <a:srgbClr val="F87171"/>
                </a:solidFill>
              </a:rPr>
              <a:t>73%の経営層が自社ブランドの「没個性の海」埋没を懸念</a:t>
            </a:r>
            <a:endParaRPr lang="en-US" sz="1100" dirty="0"/>
          </a:p>
        </p:txBody>
      </p:sp>
      <p:sp>
        <p:nvSpPr>
          <p:cNvPr id="8" name="Shape 6"/>
          <p:cNvSpPr/>
          <p:nvPr/>
        </p:nvSpPr>
        <p:spPr>
          <a:xfrm>
            <a:off x="4297680" y="1463040"/>
            <a:ext cx="3474720" cy="4389120"/>
          </a:xfrm>
          <a:prstGeom prst="roundRect">
            <a:avLst>
              <a:gd name="adj" fmla="val 2632"/>
            </a:avLst>
          </a:prstGeom>
          <a:solidFill>
            <a:srgbClr val="131C31"/>
          </a:solidFill>
          <a:ln w="19050">
            <a:solidFill>
              <a:srgbClr val="2FD9F4"/>
            </a:solidFill>
            <a:prstDash val="solid"/>
          </a:ln>
        </p:spPr>
      </p:sp>
      <p:sp>
        <p:nvSpPr>
          <p:cNvPr id="9" name="Text 7"/>
          <p:cNvSpPr/>
          <p:nvPr/>
        </p:nvSpPr>
        <p:spPr>
          <a:xfrm>
            <a:off x="4480560" y="1645920"/>
            <a:ext cx="3108960" cy="365760"/>
          </a:xfrm>
          <a:prstGeom prst="rect">
            <a:avLst/>
          </a:prstGeom>
          <a:noFill/>
          <a:ln/>
        </p:spPr>
        <p:txBody>
          <a:bodyPr wrap="square" rtlCol="0" anchor="ctr"/>
          <a:lstStyle/>
          <a:p>
            <a:pPr indent="0" marL="0">
              <a:buNone/>
            </a:pPr>
            <a:r>
              <a:rPr lang="en-US" sz="1300" b="1" dirty="0">
                <a:solidFill>
                  <a:srgbClr val="2FD9F4"/>
                </a:solidFill>
              </a:rPr>
              <a:t>【解】3D意味空間 × RAG導線</a:t>
            </a:r>
            <a:endParaRPr lang="en-US" sz="1300" dirty="0"/>
          </a:p>
        </p:txBody>
      </p:sp>
      <p:sp>
        <p:nvSpPr>
          <p:cNvPr id="10" name="Text 8"/>
          <p:cNvSpPr/>
          <p:nvPr/>
        </p:nvSpPr>
        <p:spPr>
          <a:xfrm>
            <a:off x="4480560" y="2103120"/>
            <a:ext cx="3108960" cy="3474720"/>
          </a:xfrm>
          <a:prstGeom prst="rect">
            <a:avLst/>
          </a:prstGeom>
          <a:noFill/>
          <a:ln/>
        </p:spPr>
        <p:txBody>
          <a:bodyPr wrap="square" rtlCol="0" anchor="ctr"/>
          <a:lstStyle/>
          <a:p>
            <a:pPr indent="0" marL="0">
              <a:buNone/>
            </a:pPr>
            <a:r>
              <a:rPr lang="en-US" sz="1100" dirty="0">
                <a:solidFill>
                  <a:srgbClr val="94A3B8"/>
                </a:solidFill>
              </a:rPr>
              <a:t>• Vertex AI Embedding × UMAP により</a:t>
            </a:r>
            <a:pPr indent="0" marL="0">
              <a:buNone/>
            </a:pPr>
            <a:r>
              <a:rPr lang="en-US" sz="1100" b="1" dirty="0">
                <a:solidFill>
                  <a:srgbClr val="2FD9F4"/>
                </a:solidFill>
              </a:rPr>
              <a:t>記事を3D宇宙に自動配置
</a:t>
            </a:r>
            <a:endParaRPr lang="en-US" sz="1100" dirty="0"/>
          </a:p>
          <a:p>
            <a:pPr indent="0" marL="0">
              <a:buNone/>
            </a:pPr>
            <a:r>
              <a:rPr lang="en-US" sz="1100" dirty="0">
                <a:solidFill>
                  <a:srgbClr val="94A3B8"/>
                </a:solidFill>
              </a:rPr>
              <a:t>• Gemini 3.5 Flash ＋ Search Grounding による</a:t>
            </a:r>
            <a:pPr indent="0" marL="0">
              <a:buNone/>
            </a:pPr>
            <a:r>
              <a:rPr lang="en-US" sz="1100" dirty="0">
                <a:solidFill>
                  <a:srgbClr val="FFFFFF"/>
                </a:solidFill>
              </a:rPr>
              <a:t>「マンチカン航海士」RAG対話
</a:t>
            </a:r>
            <a:endParaRPr lang="en-US" sz="1100" dirty="0"/>
          </a:p>
          <a:p>
            <a:pPr indent="0" marL="0">
              <a:buNone/>
            </a:pPr>
            <a:r>
              <a:rPr lang="en-US" sz="1100" dirty="0">
                <a:solidFill>
                  <a:srgbClr val="94A3B8"/>
                </a:solidFill>
              </a:rPr>
              <a:t>• MOOC完走率5〜13%に対し</a:t>
            </a:r>
            <a:pPr indent="0" marL="0">
              <a:buNone/>
            </a:pPr>
            <a:r>
              <a:rPr lang="en-US" sz="1100" b="1" dirty="0">
                <a:solidFill>
                  <a:srgbClr val="34D399"/>
                </a:solidFill>
              </a:rPr>
              <a:t>「星座完成率 30%」を目指す定着設計</a:t>
            </a:r>
            <a:endParaRPr lang="en-US" sz="1100" dirty="0"/>
          </a:p>
        </p:txBody>
      </p:sp>
      <p:sp>
        <p:nvSpPr>
          <p:cNvPr id="11" name="Shape 9"/>
          <p:cNvSpPr/>
          <p:nvPr/>
        </p:nvSpPr>
        <p:spPr>
          <a:xfrm>
            <a:off x="8046720" y="1463040"/>
            <a:ext cx="3474720" cy="4389120"/>
          </a:xfrm>
          <a:prstGeom prst="roundRect">
            <a:avLst>
              <a:gd name="adj" fmla="val 2632"/>
            </a:avLst>
          </a:prstGeom>
          <a:solidFill>
            <a:srgbClr val="131C31"/>
          </a:solidFill>
          <a:ln w="12700">
            <a:solidFill>
              <a:srgbClr val="1E293B"/>
            </a:solidFill>
            <a:prstDash val="solid"/>
          </a:ln>
        </p:spPr>
      </p:sp>
      <p:sp>
        <p:nvSpPr>
          <p:cNvPr id="12" name="Text 10"/>
          <p:cNvSpPr/>
          <p:nvPr/>
        </p:nvSpPr>
        <p:spPr>
          <a:xfrm>
            <a:off x="8229600" y="1645920"/>
            <a:ext cx="3108960" cy="365760"/>
          </a:xfrm>
          <a:prstGeom prst="rect">
            <a:avLst/>
          </a:prstGeom>
          <a:noFill/>
          <a:ln/>
        </p:spPr>
        <p:txBody>
          <a:bodyPr wrap="square" rtlCol="0" anchor="ctr"/>
          <a:lstStyle/>
          <a:p>
            <a:pPr indent="0" marL="0">
              <a:buNone/>
            </a:pPr>
            <a:r>
              <a:rPr lang="en-US" sz="1300" b="1" dirty="0">
                <a:solidFill>
                  <a:srgbClr val="34D399"/>
                </a:solidFill>
              </a:rPr>
              <a:t>【成果】利益成長6倍 × コスト85%減</a:t>
            </a:r>
            <a:endParaRPr lang="en-US" sz="1300" dirty="0"/>
          </a:p>
        </p:txBody>
      </p:sp>
      <p:sp>
        <p:nvSpPr>
          <p:cNvPr id="13" name="Text 11"/>
          <p:cNvSpPr/>
          <p:nvPr/>
        </p:nvSpPr>
        <p:spPr>
          <a:xfrm>
            <a:off x="8229600" y="2103120"/>
            <a:ext cx="3108960" cy="3474720"/>
          </a:xfrm>
          <a:prstGeom prst="rect">
            <a:avLst/>
          </a:prstGeom>
          <a:noFill/>
          <a:ln/>
        </p:spPr>
        <p:txBody>
          <a:bodyPr wrap="square" rtlCol="0" anchor="ctr"/>
          <a:lstStyle/>
          <a:p>
            <a:pPr indent="0" marL="0">
              <a:buNone/>
            </a:pPr>
            <a:r>
              <a:rPr lang="en-US" sz="1100" dirty="0">
                <a:solidFill>
                  <a:srgbClr val="94A3B8"/>
                </a:solidFill>
              </a:rPr>
              <a:t>• 体験再構築企業は同業他社の</a:t>
            </a:r>
            <a:pPr indent="0" marL="0">
              <a:buNone/>
            </a:pPr>
            <a:r>
              <a:rPr lang="en-US" sz="1100" b="1" dirty="0">
                <a:solidFill>
                  <a:srgbClr val="34D399"/>
                </a:solidFill>
              </a:rPr>
              <a:t>少なくとも6倍の年次利益成長
</a:t>
            </a:r>
            <a:endParaRPr lang="en-US" sz="1100" dirty="0"/>
          </a:p>
          <a:p>
            <a:pPr indent="0" marL="0">
              <a:buNone/>
            </a:pPr>
            <a:r>
              <a:rPr lang="en-US" sz="1100" dirty="0">
                <a:solidFill>
                  <a:srgbClr val="94A3B8"/>
                </a:solidFill>
              </a:rPr>
              <a:t>• Headless Astro × Firebase 移行により</a:t>
            </a:r>
            <a:pPr indent="0" marL="0">
              <a:buNone/>
            </a:pPr>
            <a:r>
              <a:rPr lang="en-US" sz="1100" b="1" dirty="0">
                <a:solidFill>
                  <a:srgbClr val="2FD9F4"/>
                </a:solidFill>
              </a:rPr>
              <a:t>年間固定費を85%削減
</a:t>
            </a:r>
            <a:endParaRPr lang="en-US" sz="1100" dirty="0"/>
          </a:p>
          <a:p>
            <a:pPr indent="0" marL="0">
              <a:buNone/>
            </a:pPr>
            <a:r>
              <a:rPr lang="en-US" sz="1100" dirty="0">
                <a:solidFill>
                  <a:srgbClr val="94A3B8"/>
                </a:solidFill>
              </a:rPr>
              <a:t>• LCP &lt; 2.5s 達成で</a:t>
            </a:r>
            <a:pPr indent="0" marL="0">
              <a:buNone/>
            </a:pPr>
            <a:r>
              <a:rPr lang="en-US" sz="1100" b="1" dirty="0">
                <a:solidFill>
                  <a:srgbClr val="FFFFFF"/>
                </a:solidFill>
              </a:rPr>
              <a:t>123%の離脱確率上昇を阻止</a:t>
            </a:r>
            <a:endParaRPr lang="en-US" sz="1100" dirty="0"/>
          </a:p>
        </p:txBody>
      </p:sp>
      <p:sp>
        <p:nvSpPr>
          <p:cNvPr id="14" name="Text 12"/>
          <p:cNvSpPr/>
          <p:nvPr/>
        </p:nvSpPr>
        <p:spPr>
          <a:xfrm>
            <a:off x="548640" y="6035040"/>
            <a:ext cx="10972800" cy="274320"/>
          </a:xfrm>
          <a:prstGeom prst="rect">
            <a:avLst/>
          </a:prstGeom>
          <a:noFill/>
          <a:ln/>
        </p:spPr>
        <p:txBody>
          <a:bodyPr wrap="square" rtlCol="0" anchor="ctr"/>
          <a:lstStyle/>
          <a:p>
            <a:pPr indent="0" marL="0">
              <a:buNone/>
            </a:pPr>
            <a:r>
              <a:rPr lang="en-US" sz="900" dirty="0">
                <a:solidFill>
                  <a:srgbClr val="94A3B8"/>
                </a:solidFill>
              </a:rPr>
              <a:t>出典: 経産省「IT人材需給調査」 / Accenture「The Business of Experience」(2020) / Think with Google (2017)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02. PROBLEM A</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従来の技術メディアは「検索・タグの限界」により学びを単発消費させている</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F87171"/>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F87171"/>
                </a:solidFill>
              </a:rPr>
              <a:t>【既存構造の限界】Lookup 専用の20年前の情報設計</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1. 情報探索理論の断絶 (Marchionini 2006):
</a:t>
            </a:r>
            <a:pPr indent="0" marL="0">
              <a:buNone/>
            </a:pPr>
            <a:r>
              <a:rPr lang="en-US" sz="1000" dirty="0">
                <a:solidFill>
                  <a:srgbClr val="94A3B8"/>
                </a:solidFill>
              </a:rPr>
              <a:t>   既存ブログは「目的が既知」の lookup 検索に偏重。「何を知らないか分からない」探索的検索 (Exploratory Search) に非対応。
</a:t>
            </a:r>
            <a:pPr indent="0" marL="0">
              <a:buNone/>
            </a:pPr>
            <a:r>
              <a:rPr lang="en-US" sz="1000" b="1" dirty="0">
                <a:solidFill>
                  <a:srgbClr val="FFFFFF"/>
                </a:solidFill>
              </a:rPr>
              <a:t>2. 現在地と体系的文脈の喪失:
</a:t>
            </a:r>
            <a:pPr indent="0" marL="0">
              <a:buNone/>
            </a:pPr>
            <a:r>
              <a:rPr lang="en-US" sz="1000" dirty="0">
                <a:solidFill>
                  <a:srgbClr val="94A3B8"/>
                </a:solidFill>
              </a:rPr>
              <a:t>   単発記事を読んで直帰するため、前提・難易度・次に学ぶべき順序が失われる。
</a:t>
            </a:r>
            <a:pPr indent="0" marL="0">
              <a:buNone/>
            </a:pPr>
            <a:r>
              <a:rPr lang="en-US" sz="1000" b="1" dirty="0">
                <a:solidFill>
                  <a:srgbClr val="FFFFFF"/>
                </a:solidFill>
              </a:rPr>
              <a:t>3. 低い完走率:
</a:t>
            </a:r>
            <a:pPr indent="0" marL="0">
              <a:buNone/>
            </a:pPr>
            <a:r>
              <a:rPr lang="en-US" sz="1000" dirty="0">
                <a:solidFill>
                  <a:srgbClr val="94A3B8"/>
                </a:solidFill>
              </a:rPr>
              <a:t>   一般的なオンライン学習 (MOOC) の完走率はわずか </a:t>
            </a:r>
            <a:pPr indent="0" marL="0">
              <a:buNone/>
            </a:pPr>
            <a:r>
              <a:rPr lang="en-US" sz="1000" b="1" dirty="0">
                <a:solidFill>
                  <a:srgbClr val="F87171"/>
                </a:solidFill>
              </a:rPr>
              <a:t>5%〜13%</a:t>
            </a:r>
            <a:pPr indent="0" marL="0">
              <a:buNone/>
            </a:pPr>
            <a:r>
              <a:rPr lang="en-US" sz="1000" dirty="0">
                <a:solidFill>
                  <a:srgbClr val="94A3B8"/>
                </a:solidFill>
              </a:rPr>
              <a:t> に留まる。</a:t>
            </a:r>
            <a:endParaRPr lang="en-US" sz="1000" dirty="0"/>
          </a:p>
        </p:txBody>
      </p:sp>
      <p:sp>
        <p:nvSpPr>
          <p:cNvPr id="8" name="Shape 6"/>
          <p:cNvSpPr/>
          <p:nvPr/>
        </p:nvSpPr>
        <p:spPr>
          <a:xfrm>
            <a:off x="6217920" y="1463040"/>
            <a:ext cx="5303520" cy="4389120"/>
          </a:xfrm>
          <a:prstGeom prst="roundRect">
            <a:avLst>
              <a:gd name="adj" fmla="val 2083"/>
            </a:avLst>
          </a:prstGeom>
          <a:solidFill>
            <a:srgbClr val="131C31"/>
          </a:solidFill>
          <a:ln w="19050">
            <a:solidFill>
              <a:srgbClr val="2FD9F4"/>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indent="0" marL="0">
              <a:buNone/>
            </a:pPr>
            <a:r>
              <a:rPr lang="en-US" sz="1300" b="1" dirty="0">
                <a:solidFill>
                  <a:srgbClr val="2FD9F4"/>
                </a:solidFill>
              </a:rPr>
              <a:t>【geodyssAI の構造改革】3D空間ナビゲーション</a:t>
            </a:r>
            <a:endParaRPr lang="en-US" sz="1300" dirty="0"/>
          </a:p>
        </p:txBody>
      </p:sp>
      <p:sp>
        <p:nvSpPr>
          <p:cNvPr id="10" name="Text 8"/>
          <p:cNvSpPr/>
          <p:nvPr/>
        </p:nvSpPr>
        <p:spPr>
          <a:xfrm>
            <a:off x="640080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1. 意味空間の可視化 (Exploratory Search):
</a:t>
            </a:r>
            <a:pPr indent="0" marL="0">
              <a:buNone/>
            </a:pPr>
            <a:r>
              <a:rPr lang="en-US" sz="1000" dirty="0">
                <a:solidFill>
                  <a:srgbClr val="94A3B8"/>
                </a:solidFill>
              </a:rPr>
              <a:t>   Embedding ベクトルにより、関連記事の「意味的な近さ」を宇宙空間にマッピング。
</a:t>
            </a:r>
            <a:pPr indent="0" marL="0">
              <a:buNone/>
            </a:pPr>
            <a:r>
              <a:rPr lang="en-US" sz="1000" b="1" dirty="0">
                <a:solidFill>
                  <a:srgbClr val="FFFFFF"/>
                </a:solidFill>
              </a:rPr>
              <a:t>2. 難易度アビス (Z軸) ＆ 星座コンテキスト:
</a:t>
            </a:r>
            <a:pPr indent="0" marL="0">
              <a:buNone/>
            </a:pPr>
            <a:r>
              <a:rPr lang="en-US" sz="1000" dirty="0">
                <a:solidFill>
                  <a:srgbClr val="94A3B8"/>
                </a:solidFill>
              </a:rPr>
              <a:t>   難易度 Level 1〜5 を奥行き (Z軸) で表現し、自分の知識の現在地を直感把握。
</a:t>
            </a:r>
            <a:pPr indent="0" marL="0">
              <a:buNone/>
            </a:pPr>
            <a:r>
              <a:rPr lang="en-US" sz="1000" b="1" dirty="0">
                <a:solidFill>
                  <a:srgbClr val="FFFFFF"/>
                </a:solidFill>
              </a:rPr>
              <a:t>3. 30% の「星座完成率」を目指す定着設計:
</a:t>
            </a:r>
            <a:pPr indent="0" marL="0">
              <a:buNone/>
            </a:pPr>
            <a:r>
              <a:rPr lang="en-US" sz="1000" b="1" dirty="0">
                <a:solidFill>
                  <a:srgbClr val="34D399"/>
                </a:solidFill>
              </a:rPr>
              <a:t>   単発直帰を防ぎ、星と星を結ぶ「学びの航海」へ導く。</a:t>
            </a:r>
            <a:endParaRPr lang="en-US" sz="1000" dirty="0"/>
          </a:p>
        </p:txBody>
      </p:sp>
      <p:sp>
        <p:nvSpPr>
          <p:cNvPr id="11" name="Text 9"/>
          <p:cNvSpPr/>
          <p:nvPr/>
        </p:nvSpPr>
        <p:spPr>
          <a:xfrm>
            <a:off x="548640" y="6035040"/>
            <a:ext cx="10972800" cy="274320"/>
          </a:xfrm>
          <a:prstGeom prst="rect">
            <a:avLst/>
          </a:prstGeom>
          <a:noFill/>
          <a:ln/>
        </p:spPr>
        <p:txBody>
          <a:bodyPr wrap="square" rtlCol="0" anchor="ctr"/>
          <a:lstStyle/>
          <a:p>
            <a:pPr indent="0" marL="0">
              <a:buNone/>
            </a:pPr>
            <a:r>
              <a:rPr lang="en-US" sz="900" dirty="0">
                <a:solidFill>
                  <a:srgbClr val="94A3B8"/>
                </a:solidFill>
              </a:rPr>
              <a:t>参照: Marchionini (2006) "Exploratory search" / arXiv:2312.13695 / Open Praxis MOOC (2024)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03. PROBLEM B</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生成AI時代の「没個性の海 (Sea of Sameness)」から脱却し、体験でブランド価値を最大化</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1E293B"/>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FBBF24"/>
                </a:solidFill>
              </a:rPr>
              <a:t>【データで証明する体験の事業価値】</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F87171"/>
                </a:solidFill>
              </a:rPr>
              <a:t>• 73% の経営層が懸念:
</a:t>
            </a:r>
            <a:pPr indent="0" marL="0">
              <a:buNone/>
            </a:pPr>
            <a:r>
              <a:rPr lang="en-US" sz="1000" dirty="0">
                <a:solidFill>
                  <a:srgbClr val="94A3B8"/>
                </a:solidFill>
              </a:rPr>
              <a:t>  生成AIによるコンテンツ量産に伴い、自社ブランドが「没個性の海」に埋没するリスクを危惧〔Accenture Song 2024〕。
</a:t>
            </a:r>
            <a:pPr indent="0" marL="0">
              <a:buNone/>
            </a:pPr>
            <a:r>
              <a:rPr lang="en-US" sz="1000" b="1" dirty="0">
                <a:solidFill>
                  <a:srgbClr val="34D399"/>
                </a:solidFill>
              </a:rPr>
              <a:t>• 6倍の年次利益成長率:
</a:t>
            </a:r>
            <a:pPr indent="0" marL="0">
              <a:buNone/>
            </a:pPr>
            <a:r>
              <a:rPr lang="en-US" sz="1000" dirty="0">
                <a:solidFill>
                  <a:srgbClr val="94A3B8"/>
                </a:solidFill>
              </a:rPr>
              <a:t>  顧客・従業員への体験提供を軸に組織を再構築した企業は、同業他社の少なくとも6倍成長〔21カ国1,550名調査〕。
</a:t>
            </a:r>
            <a:pPr indent="0" marL="0">
              <a:buNone/>
            </a:pPr>
            <a:r>
              <a:rPr lang="en-US" sz="1000" b="1" dirty="0">
                <a:solidFill>
                  <a:srgbClr val="2FD9F4"/>
                </a:solidFill>
              </a:rPr>
              <a:t>• 売上成長 53% 高 / ブランド価値 58% 高:
</a:t>
            </a:r>
            <a:pPr indent="0" marL="0">
              <a:buNone/>
            </a:pPr>
            <a:r>
              <a:rPr lang="en-US" sz="1000" dirty="0">
                <a:solidFill>
                  <a:srgbClr val="94A3B8"/>
                </a:solidFill>
              </a:rPr>
              <a:t>  創出的体験を実現する組織は市場を圧倒的にリード。</a:t>
            </a:r>
            <a:endParaRPr lang="en-US" sz="1000" dirty="0"/>
          </a:p>
        </p:txBody>
      </p:sp>
      <p:sp>
        <p:nvSpPr>
          <p:cNvPr id="8" name="Shape 6"/>
          <p:cNvSpPr/>
          <p:nvPr/>
        </p:nvSpPr>
        <p:spPr>
          <a:xfrm>
            <a:off x="6217920" y="1463040"/>
            <a:ext cx="5303520" cy="4389120"/>
          </a:xfrm>
          <a:prstGeom prst="roundRect">
            <a:avLst>
              <a:gd name="adj" fmla="val 2083"/>
            </a:avLst>
          </a:prstGeom>
          <a:solidFill>
            <a:srgbClr val="131C31"/>
          </a:solidFill>
          <a:ln w="12700">
            <a:solidFill>
              <a:srgbClr val="38BDF8"/>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indent="0" marL="0">
              <a:buNone/>
            </a:pPr>
            <a:r>
              <a:rPr lang="en-US" sz="1300" b="1" dirty="0">
                <a:solidFill>
                  <a:srgbClr val="38BDF8"/>
                </a:solidFill>
              </a:rPr>
              <a:t>【エンジニアの価値毀損を阻止する設計】</a:t>
            </a:r>
            <a:endParaRPr lang="en-US" sz="1300" dirty="0"/>
          </a:p>
        </p:txBody>
      </p:sp>
      <p:sp>
        <p:nvSpPr>
          <p:cNvPr id="10" name="Text 8"/>
          <p:cNvSpPr/>
          <p:nvPr/>
        </p:nvSpPr>
        <p:spPr>
          <a:xfrm>
            <a:off x="640080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 「技術力の高さ」が「平凡なメディア」で埋もれる問題:
</a:t>
            </a:r>
            <a:pPr indent="0" marL="0">
              <a:buNone/>
            </a:pPr>
            <a:r>
              <a:rPr lang="en-US" sz="1000" dirty="0">
                <a:solidFill>
                  <a:srgbClr val="94A3B8"/>
                </a:solidFill>
              </a:rPr>
              <a:t>  どんなに優れた技術記事も、標準テンプレート (Medium/WordPress) では差別化できない。
</a:t>
            </a:r>
            <a:pPr indent="0" marL="0">
              <a:buNone/>
            </a:pPr>
            <a:r>
              <a:rPr lang="en-US" sz="1000" b="1" dirty="0">
                <a:solidFill>
                  <a:srgbClr val="FFFFFF"/>
                </a:solidFill>
              </a:rPr>
              <a:t>• コンテンツとメディア体験の一体化:
</a:t>
            </a:r>
            <a:pPr indent="0" marL="0">
              <a:buNone/>
            </a:pPr>
            <a:r>
              <a:rPr lang="en-US" sz="1000" dirty="0">
                <a:solidFill>
                  <a:srgbClr val="94A3B8"/>
                </a:solidFill>
              </a:rPr>
              <a:t>  3D 星海図 ＋ AI ガイド ＋ Seikai ダークテーマにより、「世界観そのもの」で技術力を証明。
</a:t>
            </a:r>
            <a:pPr indent="0" marL="0">
              <a:buNone/>
            </a:pPr>
            <a:r>
              <a:rPr lang="en-US" sz="1000" b="1" dirty="0">
                <a:solidFill>
                  <a:srgbClr val="2FD9F4"/>
                </a:solidFill>
              </a:rPr>
              <a:t>• Accenture Song 思想のパーソナル実装:
</a:t>
            </a:r>
            <a:pPr indent="0" marL="0">
              <a:buNone/>
            </a:pPr>
            <a:r>
              <a:rPr lang="en-US" sz="1000" dirty="0">
                <a:solidFill>
                  <a:srgbClr val="94A3B8"/>
                </a:solidFill>
              </a:rPr>
              <a:t>  体験 (BX) をコストではなく「利益・信頼のドライバー」へ変革。</a:t>
            </a:r>
            <a:endParaRPr lang="en-US" sz="1000" dirty="0"/>
          </a:p>
        </p:txBody>
      </p:sp>
      <p:sp>
        <p:nvSpPr>
          <p:cNvPr id="11" name="Text 9"/>
          <p:cNvSpPr/>
          <p:nvPr/>
        </p:nvSpPr>
        <p:spPr>
          <a:xfrm>
            <a:off x="548640" y="6035040"/>
            <a:ext cx="10972800" cy="274320"/>
          </a:xfrm>
          <a:prstGeom prst="rect">
            <a:avLst/>
          </a:prstGeom>
          <a:noFill/>
          <a:ln/>
        </p:spPr>
        <p:txBody>
          <a:bodyPr wrap="square" rtlCol="0" anchor="ctr"/>
          <a:lstStyle/>
          <a:p>
            <a:pPr indent="0" marL="0">
              <a:buNone/>
            </a:pPr>
            <a:r>
              <a:rPr lang="en-US" sz="900" dirty="0">
                <a:solidFill>
                  <a:srgbClr val="94A3B8"/>
                </a:solidFill>
              </a:rPr>
              <a:t>出典: Accenture "The Business of Experience" (2020) / Accenture Song "Applied Creativity" (2024)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04. DEMO SHOWCASE</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geodyssai.com の主要画面と機能が果たす役割 — デモで魅せる5大ビュー</a:t>
            </a:r>
            <a:endParaRPr lang="en-US" sz="1900" dirty="0"/>
          </a:p>
        </p:txBody>
      </p:sp>
      <p:sp>
        <p:nvSpPr>
          <p:cNvPr id="5" name="Shape 3"/>
          <p:cNvSpPr/>
          <p:nvPr/>
        </p:nvSpPr>
        <p:spPr>
          <a:xfrm>
            <a:off x="548640" y="1463040"/>
            <a:ext cx="10972800" cy="777240"/>
          </a:xfrm>
          <a:prstGeom prst="roundRect">
            <a:avLst>
              <a:gd name="adj" fmla="val 9412"/>
            </a:avLst>
          </a:prstGeom>
          <a:solidFill>
            <a:srgbClr val="131C31"/>
          </a:solidFill>
          <a:ln w="12700">
            <a:solidFill>
              <a:srgbClr val="2FD9F4"/>
            </a:solidFill>
            <a:prstDash val="solid"/>
          </a:ln>
        </p:spPr>
      </p:sp>
      <p:sp>
        <p:nvSpPr>
          <p:cNvPr id="6" name="Text 4"/>
          <p:cNvSpPr/>
          <p:nvPr/>
        </p:nvSpPr>
        <p:spPr>
          <a:xfrm>
            <a:off x="731520" y="1554480"/>
            <a:ext cx="3200400" cy="594360"/>
          </a:xfrm>
          <a:prstGeom prst="rect">
            <a:avLst/>
          </a:prstGeom>
          <a:noFill/>
          <a:ln/>
        </p:spPr>
        <p:txBody>
          <a:bodyPr wrap="square" lIns="0" tIns="0" rIns="0" bIns="0" rtlCol="0" anchor="ctr"/>
          <a:lstStyle/>
          <a:p>
            <a:pPr indent="0" marL="0">
              <a:buNone/>
            </a:pPr>
            <a:r>
              <a:rPr lang="en-US" sz="1200" b="1" dirty="0">
                <a:solidFill>
                  <a:srgbClr val="2FD9F4"/>
                </a:solidFill>
              </a:rPr>
              <a:t>① 3D 星海図トップ (/)</a:t>
            </a:r>
            <a:endParaRPr lang="en-US" sz="1200" dirty="0"/>
          </a:p>
        </p:txBody>
      </p:sp>
      <p:sp>
        <p:nvSpPr>
          <p:cNvPr id="7" name="Text 5"/>
          <p:cNvSpPr/>
          <p:nvPr/>
        </p:nvSpPr>
        <p:spPr>
          <a:xfrm>
            <a:off x="4023360" y="1554480"/>
            <a:ext cx="7315200" cy="594360"/>
          </a:xfrm>
          <a:prstGeom prst="rect">
            <a:avLst/>
          </a:prstGeom>
          <a:noFill/>
          <a:ln/>
        </p:spPr>
        <p:txBody>
          <a:bodyPr wrap="square" lIns="0" tIns="0" rIns="0" bIns="0" rtlCol="0" anchor="ctr"/>
          <a:lstStyle/>
          <a:p>
            <a:pPr indent="0" marL="0">
              <a:buNone/>
            </a:pPr>
            <a:r>
              <a:rPr lang="en-US" sz="1100" dirty="0">
                <a:solidFill>
                  <a:srgbClr val="FFFFFF"/>
                </a:solidFill>
              </a:rPr>
              <a:t>Vertex AI Embedding による全28記事の3D意味空間マップ。光の糸と星座カテゴリ線で直感探索。</a:t>
            </a:r>
            <a:endParaRPr lang="en-US" sz="1100" dirty="0"/>
          </a:p>
        </p:txBody>
      </p:sp>
      <p:sp>
        <p:nvSpPr>
          <p:cNvPr id="8" name="Shape 6"/>
          <p:cNvSpPr/>
          <p:nvPr/>
        </p:nvSpPr>
        <p:spPr>
          <a:xfrm>
            <a:off x="548640" y="2331720"/>
            <a:ext cx="10972800" cy="777240"/>
          </a:xfrm>
          <a:prstGeom prst="roundRect">
            <a:avLst>
              <a:gd name="adj" fmla="val 9412"/>
            </a:avLst>
          </a:prstGeom>
          <a:solidFill>
            <a:srgbClr val="131C31"/>
          </a:solidFill>
          <a:ln w="12700">
            <a:solidFill>
              <a:srgbClr val="38BDF8"/>
            </a:solidFill>
            <a:prstDash val="solid"/>
          </a:ln>
        </p:spPr>
      </p:sp>
      <p:sp>
        <p:nvSpPr>
          <p:cNvPr id="9" name="Text 7"/>
          <p:cNvSpPr/>
          <p:nvPr/>
        </p:nvSpPr>
        <p:spPr>
          <a:xfrm>
            <a:off x="731520" y="2423160"/>
            <a:ext cx="3200400" cy="594360"/>
          </a:xfrm>
          <a:prstGeom prst="rect">
            <a:avLst/>
          </a:prstGeom>
          <a:noFill/>
          <a:ln/>
        </p:spPr>
        <p:txBody>
          <a:bodyPr wrap="square" lIns="0" tIns="0" rIns="0" bIns="0" rtlCol="0" anchor="ctr"/>
          <a:lstStyle/>
          <a:p>
            <a:pPr indent="0" marL="0">
              <a:buNone/>
            </a:pPr>
            <a:r>
              <a:rPr lang="en-US" sz="1200" b="1" dirty="0">
                <a:solidFill>
                  <a:srgbClr val="38BDF8"/>
                </a:solidFill>
              </a:rPr>
              <a:t>② 記事詳細 (Lighthouse)</a:t>
            </a:r>
            <a:endParaRPr lang="en-US" sz="1200" dirty="0"/>
          </a:p>
        </p:txBody>
      </p:sp>
      <p:sp>
        <p:nvSpPr>
          <p:cNvPr id="10" name="Text 8"/>
          <p:cNvSpPr/>
          <p:nvPr/>
        </p:nvSpPr>
        <p:spPr>
          <a:xfrm>
            <a:off x="4023360" y="2423160"/>
            <a:ext cx="7315200" cy="594360"/>
          </a:xfrm>
          <a:prstGeom prst="rect">
            <a:avLst/>
          </a:prstGeom>
          <a:noFill/>
          <a:ln/>
        </p:spPr>
        <p:txBody>
          <a:bodyPr wrap="square" lIns="0" tIns="0" rIns="0" bIns="0" rtlCol="0" anchor="ctr"/>
          <a:lstStyle/>
          <a:p>
            <a:pPr indent="0" marL="0">
              <a:buNone/>
            </a:pPr>
            <a:r>
              <a:rPr lang="en-US" sz="1100" dirty="0">
                <a:solidFill>
                  <a:srgbClr val="FFFFFF"/>
                </a:solidFill>
              </a:rPr>
              <a:t>マンチカン航海士の3ステップ学習指導カード ＆ カスタムブロック (MunchkinSpeech) の可読画面。</a:t>
            </a:r>
            <a:endParaRPr lang="en-US" sz="1100" dirty="0"/>
          </a:p>
        </p:txBody>
      </p:sp>
      <p:sp>
        <p:nvSpPr>
          <p:cNvPr id="11" name="Shape 9"/>
          <p:cNvSpPr/>
          <p:nvPr/>
        </p:nvSpPr>
        <p:spPr>
          <a:xfrm>
            <a:off x="548640" y="3200400"/>
            <a:ext cx="10972800" cy="777240"/>
          </a:xfrm>
          <a:prstGeom prst="roundRect">
            <a:avLst>
              <a:gd name="adj" fmla="val 9412"/>
            </a:avLst>
          </a:prstGeom>
          <a:solidFill>
            <a:srgbClr val="131C31"/>
          </a:solidFill>
          <a:ln w="12700">
            <a:solidFill>
              <a:srgbClr val="818CF8"/>
            </a:solidFill>
            <a:prstDash val="solid"/>
          </a:ln>
        </p:spPr>
      </p:sp>
      <p:sp>
        <p:nvSpPr>
          <p:cNvPr id="12" name="Text 10"/>
          <p:cNvSpPr/>
          <p:nvPr/>
        </p:nvSpPr>
        <p:spPr>
          <a:xfrm>
            <a:off x="731520" y="3291840"/>
            <a:ext cx="3200400" cy="594360"/>
          </a:xfrm>
          <a:prstGeom prst="rect">
            <a:avLst/>
          </a:prstGeom>
          <a:noFill/>
          <a:ln/>
        </p:spPr>
        <p:txBody>
          <a:bodyPr wrap="square" lIns="0" tIns="0" rIns="0" bIns="0" rtlCol="0" anchor="ctr"/>
          <a:lstStyle/>
          <a:p>
            <a:pPr indent="0" marL="0">
              <a:buNone/>
            </a:pPr>
            <a:r>
              <a:rPr lang="en-US" sz="1200" b="1" dirty="0">
                <a:solidFill>
                  <a:srgbClr val="818CF8"/>
                </a:solidFill>
              </a:rPr>
              <a:t>③ 知の星海 展望台 (/observatory)</a:t>
            </a:r>
            <a:endParaRPr lang="en-US" sz="1200" dirty="0"/>
          </a:p>
        </p:txBody>
      </p:sp>
      <p:sp>
        <p:nvSpPr>
          <p:cNvPr id="13" name="Text 11"/>
          <p:cNvSpPr/>
          <p:nvPr/>
        </p:nvSpPr>
        <p:spPr>
          <a:xfrm>
            <a:off x="4023360" y="3291840"/>
            <a:ext cx="7315200" cy="594360"/>
          </a:xfrm>
          <a:prstGeom prst="rect">
            <a:avLst/>
          </a:prstGeom>
          <a:noFill/>
          <a:ln/>
        </p:spPr>
        <p:txBody>
          <a:bodyPr wrap="square" lIns="0" tIns="0" rIns="0" bIns="0" rtlCol="0" anchor="ctr"/>
          <a:lstStyle/>
          <a:p>
            <a:pPr indent="0" marL="0">
              <a:buNone/>
            </a:pPr>
            <a:r>
              <a:rPr lang="en-US" sz="1100" dirty="0">
                <a:solidFill>
                  <a:srgbClr val="FFFFFF"/>
                </a:solidFill>
              </a:rPr>
              <a:t>全7星座カテゴリ別の読破進捗・未読マーク・読書完了ステータスを一括監視する管理ボード。</a:t>
            </a:r>
            <a:endParaRPr lang="en-US" sz="1100" dirty="0"/>
          </a:p>
        </p:txBody>
      </p:sp>
      <p:sp>
        <p:nvSpPr>
          <p:cNvPr id="14" name="Shape 12"/>
          <p:cNvSpPr/>
          <p:nvPr/>
        </p:nvSpPr>
        <p:spPr>
          <a:xfrm>
            <a:off x="548640" y="4069080"/>
            <a:ext cx="10972800" cy="777240"/>
          </a:xfrm>
          <a:prstGeom prst="roundRect">
            <a:avLst>
              <a:gd name="adj" fmla="val 9412"/>
            </a:avLst>
          </a:prstGeom>
          <a:solidFill>
            <a:srgbClr val="131C31"/>
          </a:solidFill>
          <a:ln w="12700">
            <a:solidFill>
              <a:srgbClr val="FBBF24"/>
            </a:solidFill>
            <a:prstDash val="solid"/>
          </a:ln>
        </p:spPr>
      </p:sp>
      <p:sp>
        <p:nvSpPr>
          <p:cNvPr id="15" name="Text 13"/>
          <p:cNvSpPr/>
          <p:nvPr/>
        </p:nvSpPr>
        <p:spPr>
          <a:xfrm>
            <a:off x="731520" y="4160520"/>
            <a:ext cx="3200400" cy="594360"/>
          </a:xfrm>
          <a:prstGeom prst="rect">
            <a:avLst/>
          </a:prstGeom>
          <a:noFill/>
          <a:ln/>
        </p:spPr>
        <p:txBody>
          <a:bodyPr wrap="square" lIns="0" tIns="0" rIns="0" bIns="0" rtlCol="0" anchor="ctr"/>
          <a:lstStyle/>
          <a:p>
            <a:pPr indent="0" marL="0">
              <a:buNone/>
            </a:pPr>
            <a:r>
              <a:rPr lang="en-US" sz="1200" b="1" dirty="0">
                <a:solidFill>
                  <a:srgbClr val="FBBF24"/>
                </a:solidFill>
              </a:rPr>
              <a:t>④ 星海酒場 (/tavern)</a:t>
            </a:r>
            <a:endParaRPr lang="en-US" sz="1200" dirty="0"/>
          </a:p>
        </p:txBody>
      </p:sp>
      <p:sp>
        <p:nvSpPr>
          <p:cNvPr id="16" name="Text 14"/>
          <p:cNvSpPr/>
          <p:nvPr/>
        </p:nvSpPr>
        <p:spPr>
          <a:xfrm>
            <a:off x="4023360" y="4160520"/>
            <a:ext cx="7315200" cy="594360"/>
          </a:xfrm>
          <a:prstGeom prst="rect">
            <a:avLst/>
          </a:prstGeom>
          <a:noFill/>
          <a:ln/>
        </p:spPr>
        <p:txBody>
          <a:bodyPr wrap="square" lIns="0" tIns="0" rIns="0" bIns="0" rtlCol="0" anchor="ctr"/>
          <a:lstStyle/>
          <a:p>
            <a:pPr indent="0" marL="0">
              <a:buNone/>
            </a:pPr>
            <a:r>
              <a:rPr lang="en-US" sz="1100" dirty="0">
                <a:solidFill>
                  <a:srgbClr val="FFFFFF"/>
                </a:solidFill>
              </a:rPr>
              <a:t>Firestore onSnapshot リアルタイムリスナーによる全端末同期ディスカッション＆星屑の応援リアクション。</a:t>
            </a:r>
            <a:endParaRPr lang="en-US" sz="1100" dirty="0"/>
          </a:p>
        </p:txBody>
      </p:sp>
      <p:sp>
        <p:nvSpPr>
          <p:cNvPr id="17" name="Shape 15"/>
          <p:cNvSpPr/>
          <p:nvPr/>
        </p:nvSpPr>
        <p:spPr>
          <a:xfrm>
            <a:off x="548640" y="4937760"/>
            <a:ext cx="10972800" cy="777240"/>
          </a:xfrm>
          <a:prstGeom prst="roundRect">
            <a:avLst>
              <a:gd name="adj" fmla="val 9412"/>
            </a:avLst>
          </a:prstGeom>
          <a:solidFill>
            <a:srgbClr val="131C31"/>
          </a:solidFill>
          <a:ln w="12700">
            <a:solidFill>
              <a:srgbClr val="34D399"/>
            </a:solidFill>
            <a:prstDash val="solid"/>
          </a:ln>
        </p:spPr>
      </p:sp>
      <p:sp>
        <p:nvSpPr>
          <p:cNvPr id="18" name="Text 16"/>
          <p:cNvSpPr/>
          <p:nvPr/>
        </p:nvSpPr>
        <p:spPr>
          <a:xfrm>
            <a:off x="731520" y="5029200"/>
            <a:ext cx="3200400" cy="594360"/>
          </a:xfrm>
          <a:prstGeom prst="rect">
            <a:avLst/>
          </a:prstGeom>
          <a:noFill/>
          <a:ln/>
        </p:spPr>
        <p:txBody>
          <a:bodyPr wrap="square" lIns="0" tIns="0" rIns="0" bIns="0" rtlCol="0" anchor="ctr"/>
          <a:lstStyle/>
          <a:p>
            <a:pPr indent="0" marL="0">
              <a:buNone/>
            </a:pPr>
            <a:r>
              <a:rPr lang="en-US" sz="1200" b="1" dirty="0">
                <a:solidFill>
                  <a:srgbClr val="34D399"/>
                </a:solidFill>
              </a:rPr>
              <a:t>⑤ キャプテンアビス (/captain)</a:t>
            </a:r>
            <a:endParaRPr lang="en-US" sz="1200" dirty="0"/>
          </a:p>
        </p:txBody>
      </p:sp>
      <p:sp>
        <p:nvSpPr>
          <p:cNvPr id="19" name="Text 17"/>
          <p:cNvSpPr/>
          <p:nvPr/>
        </p:nvSpPr>
        <p:spPr>
          <a:xfrm>
            <a:off x="4023360" y="5029200"/>
            <a:ext cx="7315200" cy="594360"/>
          </a:xfrm>
          <a:prstGeom prst="rect">
            <a:avLst/>
          </a:prstGeom>
          <a:noFill/>
          <a:ln/>
        </p:spPr>
        <p:txBody>
          <a:bodyPr wrap="square" lIns="0" tIns="0" rIns="0" bIns="0" rtlCol="0" anchor="ctr"/>
          <a:lstStyle/>
          <a:p>
            <a:pPr indent="0" marL="0">
              <a:buNone/>
            </a:pPr>
            <a:r>
              <a:rPr lang="en-US" sz="1100" dirty="0">
                <a:solidFill>
                  <a:srgbClr val="FFFFFF"/>
                </a:solidFill>
              </a:rPr>
              <a:t>カメラが3D深海アビスへ潜航するポートフォリオ画面。Z軸深度計と直感的ナビゲーションを搭載。</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05. ARCHITECTURE</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Vertex AI Embedding (768d) × UMAP (3D) × 難易度アビス (Z軸) による意味空間自動生成</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1E293B"/>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2FD9F4"/>
                </a:solidFill>
              </a:rPr>
              <a:t>【ETL 3D 空間変換パイプライン】</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2FD9F4"/>
                </a:solidFill>
              </a:rPr>
              <a:t>Step 1: Vertex AI Embedding (text-embedding-005)
</a:t>
            </a:r>
            <a:pPr indent="0" marL="0">
              <a:buNone/>
            </a:pPr>
            <a:r>
              <a:rPr lang="en-US" sz="1000" dirty="0">
                <a:solidFill>
                  <a:srgbClr val="94A3B8"/>
                </a:solidFill>
              </a:rPr>
              <a:t>  全28記事の本文を768次元の高次元ベクトルへ変換。
</a:t>
            </a:r>
            <a:pPr indent="0" marL="0">
              <a:buNone/>
            </a:pPr>
            <a:r>
              <a:rPr lang="en-US" sz="1000" b="1" dirty="0">
                <a:solidFill>
                  <a:srgbClr val="38BDF8"/>
                </a:solidFill>
              </a:rPr>
              <a:t>Step 2: UMAP 次元削減 (3D Mapping)
</a:t>
            </a:r>
            <a:pPr indent="0" marL="0">
              <a:buNone/>
            </a:pPr>
            <a:r>
              <a:rPr lang="en-US" sz="1000" dirty="0">
                <a:solidFill>
                  <a:srgbClr val="94A3B8"/>
                </a:solidFill>
              </a:rPr>
              <a:t>  768次元から3D空間 (X, Y, Z) 座標へ意味的近似度を保ち圧縮。
</a:t>
            </a:r>
            <a:pPr indent="0" marL="0">
              <a:buNone/>
            </a:pPr>
            <a:r>
              <a:rPr lang="en-US" sz="1000" b="1" dirty="0">
                <a:solidFill>
                  <a:srgbClr val="818CF8"/>
                </a:solidFill>
              </a:rPr>
              <a:t>Step 3: Gemini 難易度判定 &amp; Z軸アビスオフセット
</a:t>
            </a:r>
            <a:pPr indent="0" marL="0">
              <a:buNone/>
            </a:pPr>
            <a:r>
              <a:rPr lang="en-US" sz="1000" dirty="0">
                <a:solidFill>
                  <a:srgbClr val="94A3B8"/>
                </a:solidFill>
              </a:rPr>
              <a:t>  Level 1 (入門) 〜 Level 5 (アビス深海) を奥行き座標にマッピング。
</a:t>
            </a:r>
            <a:pPr indent="0" marL="0">
              <a:buNone/>
            </a:pPr>
            <a:r>
              <a:rPr lang="en-US" sz="1000" b="1" dirty="0">
                <a:solidFill>
                  <a:srgbClr val="34D399"/>
                </a:solidFill>
              </a:rPr>
              <a:t>Step 4: 最小全域木 (MST) ＆ 光の糸 (Neighbors)
</a:t>
            </a:r>
            <a:pPr indent="0" marL="0">
              <a:buNone/>
            </a:pPr>
            <a:r>
              <a:rPr lang="en-US" sz="1000" dirty="0">
                <a:solidFill>
                  <a:srgbClr val="94A3B8"/>
                </a:solidFill>
              </a:rPr>
              <a:t>  コサイン類似度上位3記事をクライアント側でネオンライン結合。</a:t>
            </a:r>
            <a:endParaRPr lang="en-US" sz="1000" dirty="0"/>
          </a:p>
        </p:txBody>
      </p:sp>
      <p:sp>
        <p:nvSpPr>
          <p:cNvPr id="8" name="Shape 6"/>
          <p:cNvSpPr/>
          <p:nvPr/>
        </p:nvSpPr>
        <p:spPr>
          <a:xfrm>
            <a:off x="6217920" y="1463040"/>
            <a:ext cx="5303520" cy="4389120"/>
          </a:xfrm>
          <a:prstGeom prst="roundRect">
            <a:avLst>
              <a:gd name="adj" fmla="val 2083"/>
            </a:avLst>
          </a:prstGeom>
          <a:solidFill>
            <a:srgbClr val="0A1124"/>
          </a:solidFill>
          <a:ln w="12700">
            <a:solidFill>
              <a:srgbClr val="2FD9F4"/>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algn="ctr" indent="0" marL="0">
              <a:buNone/>
            </a:pPr>
            <a:r>
              <a:rPr lang="en-US" sz="1200" b="1" dirty="0">
                <a:solidFill>
                  <a:srgbClr val="2FD9F4"/>
                </a:solidFill>
              </a:rPr>
              <a:t>【3D 星海図キャンバス (Three.js / React Three Fiber)】</a:t>
            </a:r>
            <a:endParaRPr lang="en-US" sz="1200" dirty="0"/>
          </a:p>
        </p:txBody>
      </p:sp>
      <p:sp>
        <p:nvSpPr>
          <p:cNvPr id="10" name="Shape 8"/>
          <p:cNvSpPr/>
          <p:nvPr/>
        </p:nvSpPr>
        <p:spPr>
          <a:xfrm>
            <a:off x="6492240" y="2103120"/>
            <a:ext cx="4754880" cy="3474720"/>
          </a:xfrm>
          <a:prstGeom prst="roundRect">
            <a:avLst>
              <a:gd name="adj" fmla="val 2105"/>
            </a:avLst>
          </a:prstGeom>
          <a:solidFill>
            <a:srgbClr val="0E172A"/>
          </a:solidFill>
          <a:ln w="12700">
            <a:solidFill>
              <a:srgbClr val="1E293B"/>
            </a:solidFill>
            <a:prstDash val="solid"/>
          </a:ln>
        </p:spPr>
      </p:sp>
      <p:sp>
        <p:nvSpPr>
          <p:cNvPr id="11" name="Text 9"/>
          <p:cNvSpPr/>
          <p:nvPr/>
        </p:nvSpPr>
        <p:spPr>
          <a:xfrm>
            <a:off x="6583680" y="2560320"/>
            <a:ext cx="4572000" cy="2560320"/>
          </a:xfrm>
          <a:prstGeom prst="rect">
            <a:avLst/>
          </a:prstGeom>
          <a:noFill/>
          <a:ln/>
        </p:spPr>
        <p:txBody>
          <a:bodyPr wrap="square" rtlCol="0" anchor="ctr"/>
          <a:lstStyle/>
          <a:p>
            <a:pPr algn="ctr" indent="0" marL="0">
              <a:buNone/>
            </a:pPr>
            <a:r>
              <a:rPr lang="en-US" sz="1100" dirty="0">
                <a:solidFill>
                  <a:srgbClr val="38BDF8"/>
                </a:solidFill>
              </a:rPr>
              <a:t>✦ 3D VISUAL CANVAS PLACEHOLDER ✦</a:t>
            </a:r>
            <a:endParaRPr lang="en-US" sz="1100" dirty="0"/>
          </a:p>
          <a:p>
            <a:pPr algn="ctr" indent="0" marL="0">
              <a:buNone/>
            </a:pPr>
            <a:endParaRPr lang="en-US" sz="1100" dirty="0"/>
          </a:p>
          <a:p>
            <a:pPr algn="ctr" indent="0" marL="0">
              <a:buNone/>
            </a:pPr>
            <a:r>
              <a:rPr lang="en-US" sz="1100" dirty="0">
                <a:solidFill>
                  <a:srgbClr val="38BDF8"/>
                </a:solidFill>
              </a:rPr>
              <a:t>・ GLSL Custom Shader (Nebula 星雲ガス)</a:t>
            </a:r>
            <a:endParaRPr lang="en-US" sz="1100" dirty="0"/>
          </a:p>
          <a:p>
            <a:pPr algn="ctr" indent="0" marL="0">
              <a:buNone/>
            </a:pPr>
            <a:r>
              <a:rPr lang="en-US" sz="1100" dirty="0">
                <a:solidFill>
                  <a:srgbClr val="38BDF8"/>
                </a:solidFill>
              </a:rPr>
              <a:t>・ 4,000個のパララックス星屑</a:t>
            </a:r>
            <a:endParaRPr lang="en-US" sz="1100" dirty="0"/>
          </a:p>
          <a:p>
            <a:pPr algn="ctr" indent="0" marL="0">
              <a:buNone/>
            </a:pPr>
            <a:r>
              <a:rPr lang="en-US" sz="1100" dirty="0">
                <a:solidFill>
                  <a:srgbClr val="38BDF8"/>
                </a:solidFill>
              </a:rPr>
              <a:t>・ 星座カテゴリ MST 結線 ＆ コサイン類似度光の糸</a:t>
            </a:r>
            <a:endParaRPr lang="en-US" sz="1100" dirty="0"/>
          </a:p>
          <a:p>
            <a:pPr algn="ctr" indent="0" marL="0">
              <a:buNone/>
            </a:pPr>
            <a:r>
              <a:rPr lang="en-US" sz="1100" dirty="0">
                <a:solidFill>
                  <a:srgbClr val="38BDF8"/>
                </a:solidFill>
              </a:rPr>
              <a:t>・ 難易度 Z 軸アビス潜航エフェクト</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06. AI RAG GUIDE</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Gemini 3.5 Flash ＋ Google 検索 Grounding による対話型 RAG ナビゲーション</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1E293B"/>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2FD9F4"/>
                </a:solidFill>
              </a:rPr>
              <a:t>【マンチカン航海士 (Munchkin Navigator)】</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2FD9F4"/>
                </a:solidFill>
              </a:rPr>
              <a:t>• 公式 @google/genai SDK 統合:
</a:t>
            </a:r>
            <a:pPr indent="0" marL="0">
              <a:buNone/>
            </a:pPr>
            <a:r>
              <a:rPr lang="en-US" sz="1000" dirty="0">
                <a:solidFill>
                  <a:srgbClr val="94A3B8"/>
                </a:solidFill>
              </a:rPr>
              <a:t>  現行最新モデル gemini-3.5-flash を標準採用。
</a:t>
            </a:r>
            <a:pPr indent="0" marL="0">
              <a:buNone/>
            </a:pPr>
            <a:r>
              <a:rPr lang="en-US" sz="1000" b="1" dirty="0">
                <a:solidFill>
                  <a:srgbClr val="38BDF8"/>
                </a:solidFill>
              </a:rPr>
              <a:t>• Google 検索 Grounding (tools: [{ googleSearch: {} }]):
</a:t>
            </a:r>
            <a:pPr indent="0" marL="0">
              <a:buNone/>
            </a:pPr>
            <a:r>
              <a:rPr lang="en-US" sz="1000" dirty="0">
                <a:solidFill>
                  <a:srgbClr val="94A3B8"/>
                </a:solidFill>
              </a:rPr>
              <a:t>  リアルタイムの Web 検索結果と記事コンテキストを組み合わせ、最新かつ正確な技術指導を提供。
</a:t>
            </a:r>
            <a:pPr indent="0" marL="0">
              <a:buNone/>
            </a:pPr>
            <a:r>
              <a:rPr lang="en-US" sz="1000" b="1" dirty="0">
                <a:solidFill>
                  <a:srgbClr val="34D399"/>
                </a:solidFill>
              </a:rPr>
              <a:t>• 3ステップ実践ロードマップの自動提示:
</a:t>
            </a:r>
            <a:pPr indent="0" marL="0">
              <a:buNone/>
            </a:pPr>
            <a:r>
              <a:rPr lang="en-US" sz="1000" dirty="0">
                <a:solidFill>
                  <a:srgbClr val="94A3B8"/>
                </a:solidFill>
              </a:rPr>
              <a:t>  「次に何を読むべきか」を動的に提示し、読者を体系的学習へ誘う。</a:t>
            </a:r>
            <a:endParaRPr lang="en-US" sz="1000" dirty="0"/>
          </a:p>
        </p:txBody>
      </p:sp>
      <p:sp>
        <p:nvSpPr>
          <p:cNvPr id="8" name="Shape 6"/>
          <p:cNvSpPr/>
          <p:nvPr/>
        </p:nvSpPr>
        <p:spPr>
          <a:xfrm>
            <a:off x="6217920" y="1463040"/>
            <a:ext cx="5303520" cy="4389120"/>
          </a:xfrm>
          <a:prstGeom prst="roundRect">
            <a:avLst>
              <a:gd name="adj" fmla="val 2083"/>
            </a:avLst>
          </a:prstGeom>
          <a:solidFill>
            <a:srgbClr val="0A1124"/>
          </a:solidFill>
          <a:ln w="12700">
            <a:solidFill>
              <a:srgbClr val="2FD9F4"/>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algn="ctr" indent="0" marL="0">
              <a:buNone/>
            </a:pPr>
            <a:r>
              <a:rPr lang="en-US" sz="1200" b="1" dirty="0">
                <a:solidFill>
                  <a:srgbClr val="2FD9F4"/>
                </a:solidFill>
              </a:rPr>
              <a:t>【対話型 RAG ウィジェット (Munchkin Navigator)】</a:t>
            </a:r>
            <a:endParaRPr lang="en-US" sz="1200" dirty="0"/>
          </a:p>
        </p:txBody>
      </p:sp>
      <p:sp>
        <p:nvSpPr>
          <p:cNvPr id="10" name="Shape 8"/>
          <p:cNvSpPr/>
          <p:nvPr/>
        </p:nvSpPr>
        <p:spPr>
          <a:xfrm>
            <a:off x="6492240" y="2103120"/>
            <a:ext cx="4754880" cy="3474720"/>
          </a:xfrm>
          <a:prstGeom prst="roundRect">
            <a:avLst>
              <a:gd name="adj" fmla="val 2105"/>
            </a:avLst>
          </a:prstGeom>
          <a:solidFill>
            <a:srgbClr val="0E172A"/>
          </a:solidFill>
          <a:ln w="12700">
            <a:solidFill>
              <a:srgbClr val="1E293B"/>
            </a:solidFill>
            <a:prstDash val="solid"/>
          </a:ln>
        </p:spPr>
      </p:sp>
      <p:sp>
        <p:nvSpPr>
          <p:cNvPr id="11" name="Text 9"/>
          <p:cNvSpPr/>
          <p:nvPr/>
        </p:nvSpPr>
        <p:spPr>
          <a:xfrm>
            <a:off x="6583680" y="2468880"/>
            <a:ext cx="4572000" cy="2743200"/>
          </a:xfrm>
          <a:prstGeom prst="rect">
            <a:avLst/>
          </a:prstGeom>
          <a:noFill/>
          <a:ln/>
        </p:spPr>
        <p:txBody>
          <a:bodyPr wrap="square" rtlCol="0" anchor="ctr"/>
          <a:lstStyle/>
          <a:p>
            <a:pPr algn="ctr" indent="0" marL="0">
              <a:buNone/>
            </a:pPr>
            <a:r>
              <a:rPr lang="en-US" sz="1100" dirty="0">
                <a:solidFill>
                  <a:srgbClr val="38BDF8"/>
                </a:solidFill>
              </a:rPr>
              <a:t>🐾 マンチカン航海士 (AI Guide)</a:t>
            </a:r>
            <a:endParaRPr lang="en-US" sz="1100" dirty="0"/>
          </a:p>
          <a:p>
            <a:pPr algn="ctr" indent="0" marL="0">
              <a:buNone/>
            </a:pPr>
            <a:endParaRPr lang="en-US" sz="1100" dirty="0"/>
          </a:p>
          <a:p>
            <a:pPr algn="ctr" indent="0" marL="0">
              <a:buNone/>
            </a:pPr>
            <a:r>
              <a:rPr lang="en-US" sz="1100" dirty="0">
                <a:solidFill>
                  <a:srgbClr val="38BDF8"/>
                </a:solidFill>
              </a:rPr>
              <a:t>「ニャー！知の星海へようこそだにゃ 🐾</a:t>
            </a:r>
            <a:endParaRPr lang="en-US" sz="1100" dirty="0"/>
          </a:p>
          <a:p>
            <a:pPr algn="ctr" indent="0" marL="0">
              <a:buNone/>
            </a:pPr>
            <a:r>
              <a:rPr lang="en-US" sz="1100" dirty="0">
                <a:solidFill>
                  <a:srgbClr val="38BDF8"/>
                </a:solidFill>
              </a:rPr>
              <a:t>FirebaseやRAG、自律型エージェントについて何でも質問してほしいにゃ！」</a:t>
            </a:r>
            <a:endParaRPr lang="en-US" sz="1100" dirty="0"/>
          </a:p>
          <a:p>
            <a:pPr algn="ctr" indent="0" marL="0">
              <a:buNone/>
            </a:pPr>
            <a:endParaRPr lang="en-US" sz="1100" dirty="0"/>
          </a:p>
          <a:p>
            <a:pPr algn="ctr" indent="0" marL="0">
              <a:buNone/>
            </a:pPr>
            <a:r>
              <a:rPr lang="en-US" sz="1100" dirty="0">
                <a:solidFill>
                  <a:srgbClr val="38BDF8"/>
                </a:solidFill>
              </a:rPr>
              <a:t>・おすすめ記事提案チップ</a:t>
            </a:r>
            <a:endParaRPr lang="en-US" sz="1100" dirty="0"/>
          </a:p>
          <a:p>
            <a:pPr algn="ctr" indent="0" marL="0">
              <a:buNone/>
            </a:pPr>
            <a:r>
              <a:rPr lang="en-US" sz="1100" dirty="0">
                <a:solidFill>
                  <a:srgbClr val="38BDF8"/>
                </a:solidFill>
              </a:rPr>
              <a:t>・Markdownリンク自動埋め込み</a:t>
            </a:r>
            <a:endParaRPr lang="en-US" sz="1100" dirty="0"/>
          </a:p>
          <a:p>
            <a:pPr algn="ctr" indent="0" marL="0">
              <a:buNone/>
            </a:pPr>
            <a:r>
              <a:rPr lang="en-US" sz="1100" dirty="0">
                <a:solidFill>
                  <a:srgbClr val="38BDF8"/>
                </a:solidFill>
              </a:rPr>
              <a:t>・マルチデバイス最適化チャット窓</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07. AGENTIC PIPELINE</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NotebookLM ➔ Google Stitch ➔ StitchMCP ➔ Antigravity による自律統合開発フロー</a:t>
            </a:r>
            <a:endParaRPr lang="en-US" sz="1900" dirty="0"/>
          </a:p>
        </p:txBody>
      </p:sp>
      <p:sp>
        <p:nvSpPr>
          <p:cNvPr id="5" name="Shape 3"/>
          <p:cNvSpPr/>
          <p:nvPr/>
        </p:nvSpPr>
        <p:spPr>
          <a:xfrm>
            <a:off x="548640" y="1463040"/>
            <a:ext cx="2560320" cy="4389120"/>
          </a:xfrm>
          <a:prstGeom prst="roundRect">
            <a:avLst>
              <a:gd name="adj" fmla="val 3571"/>
            </a:avLst>
          </a:prstGeom>
          <a:solidFill>
            <a:srgbClr val="131C31"/>
          </a:solidFill>
          <a:ln w="19050">
            <a:solidFill>
              <a:srgbClr val="2FD9F4"/>
            </a:solidFill>
            <a:prstDash val="solid"/>
          </a:ln>
        </p:spPr>
      </p:sp>
      <p:sp>
        <p:nvSpPr>
          <p:cNvPr id="6" name="Text 4"/>
          <p:cNvSpPr/>
          <p:nvPr/>
        </p:nvSpPr>
        <p:spPr>
          <a:xfrm>
            <a:off x="731520" y="1645920"/>
            <a:ext cx="2194560" cy="274320"/>
          </a:xfrm>
          <a:prstGeom prst="rect">
            <a:avLst/>
          </a:prstGeom>
          <a:noFill/>
          <a:ln/>
        </p:spPr>
        <p:txBody>
          <a:bodyPr wrap="square" rtlCol="0" anchor="ctr"/>
          <a:lstStyle/>
          <a:p>
            <a:pPr indent="0" marL="0">
              <a:buNone/>
            </a:pPr>
            <a:r>
              <a:rPr lang="en-US" sz="1100" b="1" dirty="0">
                <a:solidFill>
                  <a:srgbClr val="2FD9F4"/>
                </a:solidFill>
                <a:latin typeface="Orbitron" pitchFamily="34" charset="0"/>
                <a:ea typeface="Orbitron" pitchFamily="34" charset="-122"/>
                <a:cs typeface="Orbitron" pitchFamily="34" charset="-120"/>
              </a:rPr>
              <a:t>STAGE 01</a:t>
            </a:r>
            <a:endParaRPr lang="en-US" sz="1100" dirty="0"/>
          </a:p>
        </p:txBody>
      </p:sp>
      <p:sp>
        <p:nvSpPr>
          <p:cNvPr id="7" name="Text 5"/>
          <p:cNvSpPr/>
          <p:nvPr/>
        </p:nvSpPr>
        <p:spPr>
          <a:xfrm>
            <a:off x="731520" y="2011680"/>
            <a:ext cx="2194560" cy="548640"/>
          </a:xfrm>
          <a:prstGeom prst="rect">
            <a:avLst/>
          </a:prstGeom>
          <a:noFill/>
          <a:ln/>
        </p:spPr>
        <p:txBody>
          <a:bodyPr wrap="square"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NotebookLM</a:t>
            </a:r>
            <a:endParaRPr lang="en-US" sz="1400" dirty="0"/>
          </a:p>
        </p:txBody>
      </p:sp>
      <p:sp>
        <p:nvSpPr>
          <p:cNvPr id="8" name="Text 6"/>
          <p:cNvSpPr/>
          <p:nvPr/>
        </p:nvSpPr>
        <p:spPr>
          <a:xfrm>
            <a:off x="731520" y="2743200"/>
            <a:ext cx="2194560" cy="2743200"/>
          </a:xfrm>
          <a:prstGeom prst="rect">
            <a:avLst/>
          </a:prstGeom>
          <a:noFill/>
          <a:ln/>
        </p:spPr>
        <p:txBody>
          <a:bodyPr wrap="square" rtlCol="0" anchor="ctr"/>
          <a:lstStyle/>
          <a:p>
            <a:pPr indent="0" marL="0">
              <a:buNone/>
            </a:pPr>
            <a:r>
              <a:rPr lang="en-US" sz="1000" dirty="0">
                <a:solidFill>
                  <a:srgbClr val="94A3B8"/>
                </a:solidFill>
              </a:rPr>
              <a:t>AGENTS.md / DESIGN.md</a:t>
            </a:r>
            <a:endParaRPr lang="en-US" sz="1000" dirty="0"/>
          </a:p>
          <a:p>
            <a:pPr indent="0" marL="0">
              <a:buNone/>
            </a:pPr>
            <a:r>
              <a:rPr lang="en-US" sz="1000" dirty="0">
                <a:solidFill>
                  <a:srgbClr val="94A3B8"/>
                </a:solidFill>
              </a:rPr>
              <a:t>骨子・要件・思想解析</a:t>
            </a:r>
            <a:endParaRPr lang="en-US" sz="1000" dirty="0"/>
          </a:p>
        </p:txBody>
      </p:sp>
      <p:sp>
        <p:nvSpPr>
          <p:cNvPr id="9" name="Text 7"/>
          <p:cNvSpPr/>
          <p:nvPr/>
        </p:nvSpPr>
        <p:spPr>
          <a:xfrm>
            <a:off x="3017520" y="3291840"/>
            <a:ext cx="365760" cy="365760"/>
          </a:xfrm>
          <a:prstGeom prst="rect">
            <a:avLst/>
          </a:prstGeom>
          <a:noFill/>
          <a:ln/>
        </p:spPr>
        <p:txBody>
          <a:bodyPr wrap="square" rtlCol="0" anchor="ctr"/>
          <a:lstStyle/>
          <a:p>
            <a:pPr algn="ctr" indent="0" marL="0">
              <a:buNone/>
            </a:pPr>
            <a:r>
              <a:rPr lang="en-US" sz="1600" b="1" dirty="0">
                <a:solidFill>
                  <a:srgbClr val="2FD9F4"/>
                </a:solidFill>
              </a:rPr>
              <a:t>➔</a:t>
            </a:r>
            <a:endParaRPr lang="en-US" sz="1600" dirty="0"/>
          </a:p>
        </p:txBody>
      </p:sp>
      <p:sp>
        <p:nvSpPr>
          <p:cNvPr id="10" name="Shape 8"/>
          <p:cNvSpPr/>
          <p:nvPr/>
        </p:nvSpPr>
        <p:spPr>
          <a:xfrm>
            <a:off x="3337560" y="1463040"/>
            <a:ext cx="2560320" cy="4389120"/>
          </a:xfrm>
          <a:prstGeom prst="roundRect">
            <a:avLst>
              <a:gd name="adj" fmla="val 3571"/>
            </a:avLst>
          </a:prstGeom>
          <a:solidFill>
            <a:srgbClr val="131C31"/>
          </a:solidFill>
          <a:ln w="19050">
            <a:solidFill>
              <a:srgbClr val="38BDF8"/>
            </a:solidFill>
            <a:prstDash val="solid"/>
          </a:ln>
        </p:spPr>
      </p:sp>
      <p:sp>
        <p:nvSpPr>
          <p:cNvPr id="11" name="Text 9"/>
          <p:cNvSpPr/>
          <p:nvPr/>
        </p:nvSpPr>
        <p:spPr>
          <a:xfrm>
            <a:off x="3520440" y="1645920"/>
            <a:ext cx="2194560" cy="274320"/>
          </a:xfrm>
          <a:prstGeom prst="rect">
            <a:avLst/>
          </a:prstGeom>
          <a:noFill/>
          <a:ln/>
        </p:spPr>
        <p:txBody>
          <a:bodyPr wrap="square" rtlCol="0" anchor="ctr"/>
          <a:lstStyle/>
          <a:p>
            <a:pPr indent="0" marL="0">
              <a:buNone/>
            </a:pPr>
            <a:r>
              <a:rPr lang="en-US" sz="1100" b="1" dirty="0">
                <a:solidFill>
                  <a:srgbClr val="38BDF8"/>
                </a:solidFill>
                <a:latin typeface="Orbitron" pitchFamily="34" charset="0"/>
                <a:ea typeface="Orbitron" pitchFamily="34" charset="-122"/>
                <a:cs typeface="Orbitron" pitchFamily="34" charset="-120"/>
              </a:rPr>
              <a:t>STAGE 02</a:t>
            </a:r>
            <a:endParaRPr lang="en-US" sz="1100" dirty="0"/>
          </a:p>
        </p:txBody>
      </p:sp>
      <p:sp>
        <p:nvSpPr>
          <p:cNvPr id="12" name="Text 10"/>
          <p:cNvSpPr/>
          <p:nvPr/>
        </p:nvSpPr>
        <p:spPr>
          <a:xfrm>
            <a:off x="3520440" y="2011680"/>
            <a:ext cx="2194560" cy="548640"/>
          </a:xfrm>
          <a:prstGeom prst="rect">
            <a:avLst/>
          </a:prstGeom>
          <a:noFill/>
          <a:ln/>
        </p:spPr>
        <p:txBody>
          <a:bodyPr wrap="square"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Google Stitch</a:t>
            </a:r>
            <a:endParaRPr lang="en-US" sz="1400" dirty="0"/>
          </a:p>
        </p:txBody>
      </p:sp>
      <p:sp>
        <p:nvSpPr>
          <p:cNvPr id="13" name="Text 11"/>
          <p:cNvSpPr/>
          <p:nvPr/>
        </p:nvSpPr>
        <p:spPr>
          <a:xfrm>
            <a:off x="3520440" y="2743200"/>
            <a:ext cx="2194560" cy="2743200"/>
          </a:xfrm>
          <a:prstGeom prst="rect">
            <a:avLst/>
          </a:prstGeom>
          <a:noFill/>
          <a:ln/>
        </p:spPr>
        <p:txBody>
          <a:bodyPr wrap="square" rtlCol="0" anchor="ctr"/>
          <a:lstStyle/>
          <a:p>
            <a:pPr indent="0" marL="0">
              <a:buNone/>
            </a:pPr>
            <a:r>
              <a:rPr lang="en-US" sz="1000" dirty="0">
                <a:solidFill>
                  <a:srgbClr val="94A3B8"/>
                </a:solidFill>
              </a:rPr>
              <a:t>Seikai カラーパレット ＆</a:t>
            </a:r>
            <a:endParaRPr lang="en-US" sz="1000" dirty="0"/>
          </a:p>
          <a:p>
            <a:pPr indent="0" marL="0">
              <a:buNone/>
            </a:pPr>
            <a:r>
              <a:rPr lang="en-US" sz="1000" dirty="0">
                <a:solidFill>
                  <a:srgbClr val="94A3B8"/>
                </a:solidFill>
              </a:rPr>
              <a:t>UI/UX デザインシステム生成</a:t>
            </a:r>
            <a:endParaRPr lang="en-US" sz="1000" dirty="0"/>
          </a:p>
        </p:txBody>
      </p:sp>
      <p:sp>
        <p:nvSpPr>
          <p:cNvPr id="14" name="Text 12"/>
          <p:cNvSpPr/>
          <p:nvPr/>
        </p:nvSpPr>
        <p:spPr>
          <a:xfrm>
            <a:off x="5806440" y="3291840"/>
            <a:ext cx="365760" cy="365760"/>
          </a:xfrm>
          <a:prstGeom prst="rect">
            <a:avLst/>
          </a:prstGeom>
          <a:noFill/>
          <a:ln/>
        </p:spPr>
        <p:txBody>
          <a:bodyPr wrap="square" rtlCol="0" anchor="ctr"/>
          <a:lstStyle/>
          <a:p>
            <a:pPr algn="ctr" indent="0" marL="0">
              <a:buNone/>
            </a:pPr>
            <a:r>
              <a:rPr lang="en-US" sz="1600" b="1" dirty="0">
                <a:solidFill>
                  <a:srgbClr val="2FD9F4"/>
                </a:solidFill>
              </a:rPr>
              <a:t>➔</a:t>
            </a:r>
            <a:endParaRPr lang="en-US" sz="1600" dirty="0"/>
          </a:p>
        </p:txBody>
      </p:sp>
      <p:sp>
        <p:nvSpPr>
          <p:cNvPr id="15" name="Shape 13"/>
          <p:cNvSpPr/>
          <p:nvPr/>
        </p:nvSpPr>
        <p:spPr>
          <a:xfrm>
            <a:off x="6126480" y="1463040"/>
            <a:ext cx="2560320" cy="4389120"/>
          </a:xfrm>
          <a:prstGeom prst="roundRect">
            <a:avLst>
              <a:gd name="adj" fmla="val 3571"/>
            </a:avLst>
          </a:prstGeom>
          <a:solidFill>
            <a:srgbClr val="131C31"/>
          </a:solidFill>
          <a:ln w="19050">
            <a:solidFill>
              <a:srgbClr val="818CF8"/>
            </a:solidFill>
            <a:prstDash val="solid"/>
          </a:ln>
        </p:spPr>
      </p:sp>
      <p:sp>
        <p:nvSpPr>
          <p:cNvPr id="16" name="Text 14"/>
          <p:cNvSpPr/>
          <p:nvPr/>
        </p:nvSpPr>
        <p:spPr>
          <a:xfrm>
            <a:off x="6309360" y="1645920"/>
            <a:ext cx="2194560" cy="274320"/>
          </a:xfrm>
          <a:prstGeom prst="rect">
            <a:avLst/>
          </a:prstGeom>
          <a:noFill/>
          <a:ln/>
        </p:spPr>
        <p:txBody>
          <a:bodyPr wrap="square" rtlCol="0" anchor="ctr"/>
          <a:lstStyle/>
          <a:p>
            <a:pPr indent="0" marL="0">
              <a:buNone/>
            </a:pPr>
            <a:r>
              <a:rPr lang="en-US" sz="1100" b="1" dirty="0">
                <a:solidFill>
                  <a:srgbClr val="818CF8"/>
                </a:solidFill>
                <a:latin typeface="Orbitron" pitchFamily="34" charset="0"/>
                <a:ea typeface="Orbitron" pitchFamily="34" charset="-122"/>
                <a:cs typeface="Orbitron" pitchFamily="34" charset="-120"/>
              </a:rPr>
              <a:t>STAGE 03</a:t>
            </a:r>
            <a:endParaRPr lang="en-US" sz="1100" dirty="0"/>
          </a:p>
        </p:txBody>
      </p:sp>
      <p:sp>
        <p:nvSpPr>
          <p:cNvPr id="17" name="Text 15"/>
          <p:cNvSpPr/>
          <p:nvPr/>
        </p:nvSpPr>
        <p:spPr>
          <a:xfrm>
            <a:off x="6309360" y="2011680"/>
            <a:ext cx="2194560" cy="548640"/>
          </a:xfrm>
          <a:prstGeom prst="rect">
            <a:avLst/>
          </a:prstGeom>
          <a:noFill/>
          <a:ln/>
        </p:spPr>
        <p:txBody>
          <a:bodyPr wrap="square"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StitchMCP</a:t>
            </a:r>
            <a:endParaRPr lang="en-US" sz="1400" dirty="0"/>
          </a:p>
        </p:txBody>
      </p:sp>
      <p:sp>
        <p:nvSpPr>
          <p:cNvPr id="18" name="Text 16"/>
          <p:cNvSpPr/>
          <p:nvPr/>
        </p:nvSpPr>
        <p:spPr>
          <a:xfrm>
            <a:off x="6309360" y="2743200"/>
            <a:ext cx="2194560" cy="2743200"/>
          </a:xfrm>
          <a:prstGeom prst="rect">
            <a:avLst/>
          </a:prstGeom>
          <a:noFill/>
          <a:ln/>
        </p:spPr>
        <p:txBody>
          <a:bodyPr wrap="square" rtlCol="0" anchor="ctr"/>
          <a:lstStyle/>
          <a:p>
            <a:pPr indent="0" marL="0">
              <a:buNone/>
            </a:pPr>
            <a:r>
              <a:rPr lang="en-US" sz="1000" dirty="0">
                <a:solidFill>
                  <a:srgbClr val="94A3B8"/>
                </a:solidFill>
              </a:rPr>
              <a:t>MCP Tool 経由で</a:t>
            </a:r>
            <a:endParaRPr lang="en-US" sz="1000" dirty="0"/>
          </a:p>
          <a:p>
            <a:pPr indent="0" marL="0">
              <a:buNone/>
            </a:pPr>
            <a:r>
              <a:rPr lang="en-US" sz="1000" dirty="0">
                <a:solidFill>
                  <a:srgbClr val="94A3B8"/>
                </a:solidFill>
              </a:rPr>
              <a:t>デザインデータ自動連携</a:t>
            </a:r>
            <a:endParaRPr lang="en-US" sz="1000" dirty="0"/>
          </a:p>
        </p:txBody>
      </p:sp>
      <p:sp>
        <p:nvSpPr>
          <p:cNvPr id="19" name="Text 17"/>
          <p:cNvSpPr/>
          <p:nvPr/>
        </p:nvSpPr>
        <p:spPr>
          <a:xfrm>
            <a:off x="8595360" y="3291840"/>
            <a:ext cx="365760" cy="365760"/>
          </a:xfrm>
          <a:prstGeom prst="rect">
            <a:avLst/>
          </a:prstGeom>
          <a:noFill/>
          <a:ln/>
        </p:spPr>
        <p:txBody>
          <a:bodyPr wrap="square" rtlCol="0" anchor="ctr"/>
          <a:lstStyle/>
          <a:p>
            <a:pPr algn="ctr" indent="0" marL="0">
              <a:buNone/>
            </a:pPr>
            <a:r>
              <a:rPr lang="en-US" sz="1600" b="1" dirty="0">
                <a:solidFill>
                  <a:srgbClr val="2FD9F4"/>
                </a:solidFill>
              </a:rPr>
              <a:t>➔</a:t>
            </a:r>
            <a:endParaRPr lang="en-US" sz="1600" dirty="0"/>
          </a:p>
        </p:txBody>
      </p:sp>
      <p:sp>
        <p:nvSpPr>
          <p:cNvPr id="20" name="Shape 18"/>
          <p:cNvSpPr/>
          <p:nvPr/>
        </p:nvSpPr>
        <p:spPr>
          <a:xfrm>
            <a:off x="8915400" y="1463040"/>
            <a:ext cx="2560320" cy="4389120"/>
          </a:xfrm>
          <a:prstGeom prst="roundRect">
            <a:avLst>
              <a:gd name="adj" fmla="val 3571"/>
            </a:avLst>
          </a:prstGeom>
          <a:solidFill>
            <a:srgbClr val="131C31"/>
          </a:solidFill>
          <a:ln w="19050">
            <a:solidFill>
              <a:srgbClr val="34D399"/>
            </a:solidFill>
            <a:prstDash val="solid"/>
          </a:ln>
        </p:spPr>
      </p:sp>
      <p:sp>
        <p:nvSpPr>
          <p:cNvPr id="21" name="Text 19"/>
          <p:cNvSpPr/>
          <p:nvPr/>
        </p:nvSpPr>
        <p:spPr>
          <a:xfrm>
            <a:off x="9098280" y="1645920"/>
            <a:ext cx="2194560" cy="274320"/>
          </a:xfrm>
          <a:prstGeom prst="rect">
            <a:avLst/>
          </a:prstGeom>
          <a:noFill/>
          <a:ln/>
        </p:spPr>
        <p:txBody>
          <a:bodyPr wrap="square" rtlCol="0" anchor="ctr"/>
          <a:lstStyle/>
          <a:p>
            <a:pPr indent="0" marL="0">
              <a:buNone/>
            </a:pPr>
            <a:r>
              <a:rPr lang="en-US" sz="1100" b="1" dirty="0">
                <a:solidFill>
                  <a:srgbClr val="34D399"/>
                </a:solidFill>
                <a:latin typeface="Orbitron" pitchFamily="34" charset="0"/>
                <a:ea typeface="Orbitron" pitchFamily="34" charset="-122"/>
                <a:cs typeface="Orbitron" pitchFamily="34" charset="-120"/>
              </a:rPr>
              <a:t>STAGE 04</a:t>
            </a:r>
            <a:endParaRPr lang="en-US" sz="1100" dirty="0"/>
          </a:p>
        </p:txBody>
      </p:sp>
      <p:sp>
        <p:nvSpPr>
          <p:cNvPr id="22" name="Text 20"/>
          <p:cNvSpPr/>
          <p:nvPr/>
        </p:nvSpPr>
        <p:spPr>
          <a:xfrm>
            <a:off x="9098280" y="2011680"/>
            <a:ext cx="2194560" cy="548640"/>
          </a:xfrm>
          <a:prstGeom prst="rect">
            <a:avLst/>
          </a:prstGeom>
          <a:noFill/>
          <a:ln/>
        </p:spPr>
        <p:txBody>
          <a:bodyPr wrap="square" rtlCol="0" anchor="ctr"/>
          <a:lstStyle/>
          <a:p>
            <a:pPr indent="0" marL="0">
              <a:buNone/>
            </a:pPr>
            <a:r>
              <a:rPr lang="en-US" sz="1400" b="1" dirty="0">
                <a:solidFill>
                  <a:srgbClr val="FFFFFF"/>
                </a:solidFill>
                <a:latin typeface="Noto Sans JP" pitchFamily="34" charset="0"/>
                <a:ea typeface="Noto Sans JP" pitchFamily="34" charset="-122"/>
                <a:cs typeface="Noto Sans JP" pitchFamily="34" charset="-120"/>
              </a:rPr>
              <a:t>Antigravity Agent</a:t>
            </a:r>
            <a:endParaRPr lang="en-US" sz="1400" dirty="0"/>
          </a:p>
        </p:txBody>
      </p:sp>
      <p:sp>
        <p:nvSpPr>
          <p:cNvPr id="23" name="Text 21"/>
          <p:cNvSpPr/>
          <p:nvPr/>
        </p:nvSpPr>
        <p:spPr>
          <a:xfrm>
            <a:off x="9098280" y="2743200"/>
            <a:ext cx="2194560" cy="2743200"/>
          </a:xfrm>
          <a:prstGeom prst="rect">
            <a:avLst/>
          </a:prstGeom>
          <a:noFill/>
          <a:ln/>
        </p:spPr>
        <p:txBody>
          <a:bodyPr wrap="square" rtlCol="0" anchor="ctr"/>
          <a:lstStyle/>
          <a:p>
            <a:pPr indent="0" marL="0">
              <a:buNone/>
            </a:pPr>
            <a:r>
              <a:rPr lang="en-US" sz="1000" dirty="0">
                <a:solidFill>
                  <a:srgbClr val="94A3B8"/>
                </a:solidFill>
              </a:rPr>
              <a:t>Gemini 3.5ペアプロによる</a:t>
            </a:r>
            <a:endParaRPr lang="en-US" sz="1000" dirty="0"/>
          </a:p>
          <a:p>
            <a:pPr indent="0" marL="0">
              <a:buNone/>
            </a:pPr>
            <a:r>
              <a:rPr lang="en-US" sz="1000" dirty="0">
                <a:solidFill>
                  <a:srgbClr val="94A3B8"/>
                </a:solidFill>
              </a:rPr>
              <a:t>自動コード実装 ＆ 本番デプロイ</a:t>
            </a:r>
            <a:endParaRPr lang="en-US" sz="1000" dirty="0"/>
          </a:p>
        </p:txBody>
      </p:sp>
      <p:sp>
        <p:nvSpPr>
          <p:cNvPr id="24" name="Text 22"/>
          <p:cNvSpPr/>
          <p:nvPr/>
        </p:nvSpPr>
        <p:spPr>
          <a:xfrm>
            <a:off x="548640" y="6035040"/>
            <a:ext cx="10972800" cy="274320"/>
          </a:xfrm>
          <a:prstGeom prst="rect">
            <a:avLst/>
          </a:prstGeom>
          <a:noFill/>
          <a:ln/>
        </p:spPr>
        <p:txBody>
          <a:bodyPr wrap="square" rtlCol="0" anchor="ctr"/>
          <a:lstStyle/>
          <a:p>
            <a:pPr algn="ctr" indent="0" marL="0">
              <a:buNone/>
            </a:pPr>
            <a:r>
              <a:rPr lang="en-US" sz="1000" b="1" dirty="0">
                <a:solidFill>
                  <a:srgbClr val="34D399"/>
                </a:solidFill>
              </a:rPr>
              <a:t>★ AI エージェント連携により、1人開発でありながら従来の数ヶ月の開発期間をわずか数時間へと圧縮。</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08. PERFORMANCE</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Headless Astro × Firebase 移行により表示遅延123%増を防止し年間コスト85%削減</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F87171"/>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200" b="1" dirty="0">
                <a:solidFill>
                  <a:srgbClr val="F87171"/>
                </a:solidFill>
              </a:rPr>
              <a:t>【速度と離脱確率の定量根拠 (Google 1,100万件データ)】</a:t>
            </a:r>
            <a:endParaRPr lang="en-US" sz="12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dirty="0">
                <a:solidFill>
                  <a:srgbClr val="FFFFFF"/>
                </a:solidFill>
              </a:rPr>
              <a:t>• 1s ➔ 10s の遅延で離脱率 </a:t>
            </a:r>
            <a:pPr indent="0" marL="0">
              <a:buNone/>
            </a:pPr>
            <a:r>
              <a:rPr lang="en-US" sz="1000" b="1" dirty="0">
                <a:solidFill>
                  <a:srgbClr val="F87171"/>
                </a:solidFill>
              </a:rPr>
              <a:t>123% 上昇:
</a:t>
            </a:r>
            <a:pPr indent="0" marL="0">
              <a:buNone/>
            </a:pPr>
            <a:r>
              <a:rPr lang="en-US" sz="1000" dirty="0">
                <a:solidFill>
                  <a:srgbClr val="94A3B8"/>
                </a:solidFill>
              </a:rPr>
              <a:t>  モバイルページ表示時間が伸びるとユーザーは指数関数的に離脱〔Think with Google 2017〕。
</a:t>
            </a:r>
            <a:pPr indent="0" marL="0">
              <a:buNone/>
            </a:pPr>
            <a:r>
              <a:rPr lang="en-US" sz="1000" dirty="0">
                <a:solidFill>
                  <a:srgbClr val="FFFFFF"/>
                </a:solidFill>
              </a:rPr>
              <a:t>• 要素数 400 ➔ 6,000 でCV率 </a:t>
            </a:r>
            <a:pPr indent="0" marL="0">
              <a:buNone/>
            </a:pPr>
            <a:r>
              <a:rPr lang="en-US" sz="1000" b="1" dirty="0">
                <a:solidFill>
                  <a:srgbClr val="F87171"/>
                </a:solidFill>
              </a:rPr>
              <a:t>95% 低下:
</a:t>
            </a:r>
            <a:pPr indent="0" marL="0">
              <a:buNone/>
            </a:pPr>
            <a:r>
              <a:rPr lang="en-US" sz="1000" dirty="0">
                <a:solidFill>
                  <a:srgbClr val="94A3B8"/>
                </a:solidFill>
              </a:rPr>
              <a:t>  重厚なWordPressプラグインはCV確率を著しく破壊。
</a:t>
            </a:r>
            <a:pPr indent="0" marL="0">
              <a:buNone/>
            </a:pPr>
            <a:r>
              <a:rPr lang="en-US" sz="1000" b="1" dirty="0">
                <a:solidFill>
                  <a:srgbClr val="34D399"/>
                </a:solidFill>
              </a:rPr>
              <a:t>• Astro SSG による LCP &lt; 2.5s 達成:
</a:t>
            </a:r>
            <a:pPr indent="0" marL="0">
              <a:buNone/>
            </a:pPr>
            <a:r>
              <a:rPr lang="en-US" sz="1000" dirty="0">
                <a:solidFill>
                  <a:srgbClr val="94A3B8"/>
                </a:solidFill>
              </a:rPr>
              <a:t>  全28記事を静的HTMLとして事前プレレンダリングし、瞬間表示を実現。</a:t>
            </a:r>
            <a:endParaRPr lang="en-US" sz="1000" dirty="0"/>
          </a:p>
        </p:txBody>
      </p:sp>
      <p:sp>
        <p:nvSpPr>
          <p:cNvPr id="8" name="Shape 6"/>
          <p:cNvSpPr/>
          <p:nvPr/>
        </p:nvSpPr>
        <p:spPr>
          <a:xfrm>
            <a:off x="6217920" y="1463040"/>
            <a:ext cx="5303520" cy="4389120"/>
          </a:xfrm>
          <a:prstGeom prst="roundRect">
            <a:avLst>
              <a:gd name="adj" fmla="val 2083"/>
            </a:avLst>
          </a:prstGeom>
          <a:solidFill>
            <a:srgbClr val="131C31"/>
          </a:solidFill>
          <a:ln w="19050">
            <a:solidFill>
              <a:srgbClr val="34D399"/>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indent="0" marL="0">
              <a:buNone/>
            </a:pPr>
            <a:r>
              <a:rPr lang="en-US" sz="1300" b="1" dirty="0">
                <a:solidFill>
                  <a:srgbClr val="34D399"/>
                </a:solidFill>
              </a:rPr>
              <a:t>【年間コスト 85% 削減のインフラ改革】</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194560"/>
          <a:ext cx="4937760" cy="914400"/>
        </p:xfrm>
        <a:graphic>
          <a:graphicData uri="http://schemas.openxmlformats.org/drawingml/2006/table">
            <a:tbl>
              <a:tblPr/>
              <a:tblGrid>
                <a:gridCol w="1188720"/>
                <a:gridCol w="1828800"/>
                <a:gridCol w="1920240"/>
              </a:tblGrid>
              <a:tr h="0">
                <a:tc>
                  <a:txBody>
                    <a:bodyPr/>
                    <a:lstStyle/>
                    <a:p>
                      <a:pPr indent="0" marL="0">
                        <a:buNone/>
                      </a:pPr>
                      <a:r>
                        <a:rPr lang="en-US" sz="1000" b="1" dirty="0">
                          <a:solidFill>
                            <a:srgbClr val="2FD9F4"/>
                          </a:solidFill>
                        </a:rPr>
                        <a:t>比較項目</a:t>
                      </a:r>
                      <a:endParaRPr lang="en-US" sz="1000" dirty="0"/>
                    </a:p>
                  </a:txBody>
                  <a:tcPr marL="38100" marR="38100" marT="38100" marB="38100">
                    <a:lnL w="0" cap="flat" cmpd="sng" algn="ctr">
                      <a:noFill/>
                    </a:lnL>
                    <a:lnR w="0" cap="flat" cmpd="sng" algn="ctr">
                      <a:noFill/>
                    </a:lnR>
                    <a:lnT w="0" cap="flat" cmpd="sng" algn="ctr">
                      <a:noFill/>
                    </a:lnT>
                    <a:lnB w="0" cap="flat" cmpd="sng" algn="ctr">
                      <a:noFill/>
                    </a:lnB>
                    <a:solidFill>
                      <a:srgbClr val="1E293B"/>
                    </a:solidFill>
                  </a:tcPr>
                </a:tc>
                <a:tc>
                  <a:txBody>
                    <a:bodyPr/>
                    <a:lstStyle/>
                    <a:p>
                      <a:pPr indent="0" marL="0">
                        <a:buNone/>
                      </a:pPr>
                      <a:r>
                        <a:rPr lang="en-US" sz="1000" b="1" dirty="0">
                          <a:solidFill>
                            <a:srgbClr val="F87171"/>
                          </a:solidFill>
                        </a:rPr>
                        <a:t>旧 WordPress 構成</a:t>
                      </a:r>
                      <a:endParaRPr lang="en-US" sz="1000" dirty="0"/>
                    </a:p>
                  </a:txBody>
                  <a:tcPr marL="38100" marR="38100" marT="38100" marB="38100">
                    <a:lnL w="0" cap="flat" cmpd="sng" algn="ctr">
                      <a:noFill/>
                    </a:lnL>
                    <a:lnR w="0" cap="flat" cmpd="sng" algn="ctr">
                      <a:noFill/>
                    </a:lnR>
                    <a:lnT w="0" cap="flat" cmpd="sng" algn="ctr">
                      <a:noFill/>
                    </a:lnT>
                    <a:lnB w="0" cap="flat" cmpd="sng" algn="ctr">
                      <a:noFill/>
                    </a:lnB>
                    <a:solidFill>
                      <a:srgbClr val="1E293B"/>
                    </a:solidFill>
                  </a:tcPr>
                </a:tc>
                <a:tc>
                  <a:txBody>
                    <a:bodyPr/>
                    <a:lstStyle/>
                    <a:p>
                      <a:pPr indent="0" marL="0">
                        <a:buNone/>
                      </a:pPr>
                      <a:r>
                        <a:rPr lang="en-US" sz="1000" b="1" dirty="0">
                          <a:solidFill>
                            <a:srgbClr val="34D399"/>
                          </a:solidFill>
                        </a:rPr>
                        <a:t>新 geodyssAI 構成</a:t>
                      </a:r>
                      <a:endParaRPr lang="en-US" sz="1000" dirty="0"/>
                    </a:p>
                  </a:txBody>
                  <a:tcPr marL="38100" marR="38100" marT="38100" marB="38100">
                    <a:lnL w="0" cap="flat" cmpd="sng" algn="ctr">
                      <a:noFill/>
                    </a:lnL>
                    <a:lnR w="0" cap="flat" cmpd="sng" algn="ctr">
                      <a:noFill/>
                    </a:lnR>
                    <a:lnT w="0" cap="flat" cmpd="sng" algn="ctr">
                      <a:noFill/>
                    </a:lnT>
                    <a:lnB w="0" cap="flat" cmpd="sng" algn="ctr">
                      <a:noFill/>
                    </a:lnB>
                    <a:solidFill>
                      <a:srgbClr val="1E293B"/>
                    </a:solidFill>
                  </a:tcPr>
                </a:tc>
              </a:tr>
              <a:tr h="0">
                <a:tc>
                  <a:txBody>
                    <a:bodyPr/>
                    <a:lstStyle/>
                    <a:p>
                      <a:pPr indent="0" marL="0">
                        <a:buNone/>
                      </a:pPr>
                      <a:r>
                        <a:rPr lang="en-US" sz="900" dirty="0">
                          <a:solidFill>
                            <a:srgbClr val="FFFFFF"/>
                          </a:solidFill>
                        </a:rPr>
                        <a:t>サーバー構成</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rgbClr val="94A3B8"/>
                          </a:solidFill>
                        </a:rPr>
                        <a:t>ConoHa WING (PHP/MySQL)</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FD9F4"/>
                          </a:solidFill>
                        </a:rPr>
                        <a:t>Astro + Firebase Hosting</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900" dirty="0">
                          <a:solidFill>
                            <a:srgbClr val="FFFFFF"/>
                          </a:solidFill>
                        </a:rPr>
                        <a:t>表示方式</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dirty="0">
                          <a:solidFill>
                            <a:srgbClr val="94A3B8"/>
                          </a:solidFill>
                        </a:rPr>
                        <a:t>動的 SSR (遅い)</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34D399"/>
                          </a:solidFill>
                        </a:rPr>
                        <a:t>SSG 瞬間静的配信 (LCP &lt; 2.5s)</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900" dirty="0">
                          <a:solidFill>
                            <a:srgbClr val="FFFFFF"/>
                          </a:solidFill>
                        </a:rPr>
                        <a:t>月額固定費</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F87171"/>
                          </a:solidFill>
                        </a:rPr>
                        <a:t>約 1,000 〜 1,400 円</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34D399"/>
                          </a:solidFill>
                        </a:rPr>
                        <a:t>0 円 (無料枠内完了)</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900" dirty="0">
                          <a:solidFill>
                            <a:srgbClr val="FFFFFF"/>
                          </a:solidFill>
                        </a:rPr>
                        <a:t>年間コスト</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F87171"/>
                          </a:solidFill>
                        </a:rPr>
                        <a:t>約 15,000 円</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34D399"/>
                          </a:solidFill>
                        </a:rPr>
                        <a:t>約 2,000円 (ドメイン代のみ)</a:t>
                      </a:r>
                      <a:endParaRPr lang="en-US" sz="900" dirty="0"/>
                    </a:p>
                  </a:txBody>
                  <a:tcPr marL="38100" marR="38100" marT="38100" marB="38100">
                    <a:lnL w="0" cap="flat" cmpd="sng" algn="ctr">
                      <a:noFill/>
                    </a:lnL>
                    <a:lnR w="0" cap="flat" cmpd="sng" algn="ctr">
                      <a:noFill/>
                    </a:lnR>
                    <a:lnT w="0" cap="flat" cmpd="sng" algn="ctr">
                      <a:noFill/>
                    </a:lnT>
                    <a:lnB w="0" cap="flat" cmpd="sng" algn="ctr">
                      <a:noFill/>
                    </a:lnB>
                  </a:tcPr>
                </a:tc>
              </a:tr>
            </a:tbl>
          </a:graphicData>
        </a:graphic>
      </p:graphicFrame>
      <p:sp>
        <p:nvSpPr>
          <p:cNvPr id="11" name="Text 8"/>
          <p:cNvSpPr/>
          <p:nvPr/>
        </p:nvSpPr>
        <p:spPr>
          <a:xfrm>
            <a:off x="548640" y="6035040"/>
            <a:ext cx="10972800" cy="274320"/>
          </a:xfrm>
          <a:prstGeom prst="rect">
            <a:avLst/>
          </a:prstGeom>
          <a:noFill/>
          <a:ln/>
        </p:spPr>
        <p:txBody>
          <a:bodyPr wrap="square" rtlCol="0" anchor="ctr"/>
          <a:lstStyle/>
          <a:p>
            <a:pPr indent="0" marL="0">
              <a:buNone/>
            </a:pPr>
            <a:r>
              <a:rPr lang="en-US" sz="900" dirty="0">
                <a:solidFill>
                  <a:srgbClr val="94A3B8"/>
                </a:solidFill>
              </a:rPr>
              <a:t>出典: Think with Google "Mobile Page Speed Industry Benchmarks" (Google/SOASTA Research 2017)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09. SECURITY &amp; THREADS</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reCAPTCHA Enterprise App Check 鉄壁保護 ＆ 全端末リアルタイム同期掲示板</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2FD9F4"/>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2FD9F4"/>
                </a:solidFill>
              </a:rPr>
              <a:t>【Firebase App Check 鉄壁保護】</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 本物 reCAPTCHA Enterprise サイトキー適用:
</a:t>
            </a:r>
            <a:pPr indent="0" marL="0">
              <a:buNone/>
            </a:pPr>
            <a:r>
              <a:rPr lang="en-US" sz="1000" dirty="0">
                <a:solidFill>
                  <a:srgbClr val="94A3B8"/>
                </a:solidFill>
              </a:rPr>
              <a:t>  window.useEnterprise = true を適用し、正規ドメイン以外からの悪意あるリクエストを遮断。
</a:t>
            </a:r>
            <a:pPr indent="0" marL="0">
              <a:buNone/>
            </a:pPr>
            <a:r>
              <a:rPr lang="en-US" sz="1000" b="1" dirty="0">
                <a:solidFill>
                  <a:srgbClr val="FFFFFF"/>
                </a:solidFill>
              </a:rPr>
              <a:t>• BOT 攻撃 ＆ API 乱用防止:
</a:t>
            </a:r>
            <a:pPr indent="0" marL="0">
              <a:buNone/>
            </a:pPr>
            <a:r>
              <a:rPr lang="en-US" sz="1000" dirty="0">
                <a:solidFill>
                  <a:srgbClr val="94A3B8"/>
                </a:solidFill>
              </a:rPr>
              <a:t>  Gemini API キーおよび Firestore リソースの無断使用を完全ブロック。
</a:t>
            </a:r>
            <a:pPr indent="0" marL="0">
              <a:buNone/>
            </a:pPr>
            <a:r>
              <a:rPr lang="en-US" sz="1000" b="1" dirty="0">
                <a:solidFill>
                  <a:srgbClr val="34D399"/>
                </a:solidFill>
              </a:rPr>
              <a:t>• 自動匿名サインイン (signInAnonymously):
</a:t>
            </a:r>
            <a:pPr indent="0" marL="0">
              <a:buNone/>
            </a:pPr>
            <a:r>
              <a:rPr lang="en-US" sz="1000" dirty="0">
                <a:solidFill>
                  <a:srgbClr val="94A3B8"/>
                </a:solidFill>
              </a:rPr>
              <a:t>  未ログインユーザーでもセキュリティを保ちつつスムーズな体験を提供。</a:t>
            </a:r>
            <a:endParaRPr lang="en-US" sz="1000" dirty="0"/>
          </a:p>
        </p:txBody>
      </p:sp>
      <p:sp>
        <p:nvSpPr>
          <p:cNvPr id="8" name="Shape 6"/>
          <p:cNvSpPr/>
          <p:nvPr/>
        </p:nvSpPr>
        <p:spPr>
          <a:xfrm>
            <a:off x="6217920" y="1463040"/>
            <a:ext cx="5303520" cy="4389120"/>
          </a:xfrm>
          <a:prstGeom prst="roundRect">
            <a:avLst>
              <a:gd name="adj" fmla="val 2083"/>
            </a:avLst>
          </a:prstGeom>
          <a:solidFill>
            <a:srgbClr val="131C31"/>
          </a:solidFill>
          <a:ln w="12700">
            <a:solidFill>
              <a:srgbClr val="38BDF8"/>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indent="0" marL="0">
              <a:buNone/>
            </a:pPr>
            <a:r>
              <a:rPr lang="en-US" sz="1200" b="1" dirty="0">
                <a:solidFill>
                  <a:srgbClr val="38BDF8"/>
                </a:solidFill>
              </a:rPr>
              <a:t>【星海酒場 (Stellar Tavern) 全端末リアルタイム同期】</a:t>
            </a:r>
            <a:endParaRPr lang="en-US" sz="1200" dirty="0"/>
          </a:p>
        </p:txBody>
      </p:sp>
      <p:sp>
        <p:nvSpPr>
          <p:cNvPr id="10" name="Text 8"/>
          <p:cNvSpPr/>
          <p:nvPr/>
        </p:nvSpPr>
        <p:spPr>
          <a:xfrm>
            <a:off x="640080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 Firestore Security Rules ＆ Admin SDK 特権 API:
</a:t>
            </a:r>
            <a:pPr indent="0" marL="0">
              <a:buNone/>
            </a:pPr>
            <a:r>
              <a:rPr lang="en-US" sz="1000" dirty="0">
                <a:solidFill>
                  <a:srgbClr val="94A3B8"/>
                </a:solidFill>
              </a:rPr>
              <a:t>  /api/threads エンドポイント経由で二重永続化。Mac ↔ スマホ問わず投稿が即座に同期。
</a:t>
            </a:r>
            <a:pPr indent="0" marL="0">
              <a:buNone/>
            </a:pPr>
            <a:r>
              <a:rPr lang="en-US" sz="1000" b="1" dirty="0">
                <a:solidFill>
                  <a:srgbClr val="FFFFFF"/>
                </a:solidFill>
              </a:rPr>
              <a:t>• 7つの星座カテゴリ別ディスカッション:
</a:t>
            </a:r>
            <a:pPr indent="0" marL="0">
              <a:buNone/>
            </a:pPr>
            <a:r>
              <a:rPr lang="en-US" sz="1000" dirty="0">
                <a:solidFill>
                  <a:srgbClr val="94A3B8"/>
                </a:solidFill>
              </a:rPr>
              <a:t>  GenAI、AI Agents、Firebase、Claude、DL などのカテゴリごとのコミュニティ掲示板。
</a:t>
            </a:r>
            <a:pPr indent="0" marL="0">
              <a:buNone/>
            </a:pPr>
            <a:r>
              <a:rPr lang="en-US" sz="1000" b="1" dirty="0">
                <a:solidFill>
                  <a:srgbClr val="FBBF24"/>
                </a:solidFill>
              </a:rPr>
              <a:t>• 星屑の応援 (Stardust Cheer):
</a:t>
            </a:r>
            <a:pPr indent="0" marL="0">
              <a:buNone/>
            </a:pPr>
            <a:r>
              <a:rPr lang="en-US" sz="1000" dirty="0">
                <a:solidFill>
                  <a:srgbClr val="94A3B8"/>
                </a:solidFill>
              </a:rPr>
              <a:t>  リアルタイムのリアクション機能で学習者同士の交流を促進。</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10. MOBILE RESPONSIVE</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スマホ閲覧時のコンポーネント重なり0%化を実現する「ボトムシート」UI設計</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1E293B"/>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2FD9F4"/>
                </a:solidFill>
              </a:rPr>
              <a:t>【レスポンシブ 3D 星海図 ＆ UI 設計】</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2FD9F4"/>
                </a:solidFill>
              </a:rPr>
              <a:t>1. モバイル専用ボトムシート (Bottom Sheet):
</a:t>
            </a:r>
            <a:pPr indent="0" marL="0">
              <a:buNone/>
            </a:pPr>
            <a:r>
              <a:rPr lang="en-US" sz="1000" dirty="0">
                <a:solidFill>
                  <a:srgbClr val="94A3B8"/>
                </a:solidFill>
              </a:rPr>
              <a:t>   画面狭小なスマホ上では、記事カード・凡例・ボタンを画面下に分離集約。被さり重なりを 0% 化。
</a:t>
            </a:r>
            <a:pPr indent="0" marL="0">
              <a:buNone/>
            </a:pPr>
            <a:r>
              <a:rPr lang="en-US" sz="1000" b="1" dirty="0">
                <a:solidFill>
                  <a:srgbClr val="38BDF8"/>
                </a:solidFill>
              </a:rPr>
              <a:t>2. 最左端 (left-0) 絶対配置スライドドロワー:
</a:t>
            </a:r>
            <a:pPr indent="0" marL="0">
              <a:buNone/>
            </a:pPr>
            <a:r>
              <a:rPr lang="en-US" sz="1000" dirty="0">
                <a:solidFill>
                  <a:srgbClr val="94A3B8"/>
                </a:solidFill>
              </a:rPr>
              <a:t>   Sidebar.tsx を改修し、左端吸着ドロワー ＋ 暗転バックドロップ (bg-black/60) でネイティブアプリ同等の操作感。
</a:t>
            </a:r>
            <a:pPr indent="0" marL="0">
              <a:buNone/>
            </a:pPr>
            <a:r>
              <a:rPr lang="en-US" sz="1000" b="1" dirty="0">
                <a:solidFill>
                  <a:srgbClr val="34D399"/>
                </a:solidFill>
              </a:rPr>
              <a:t>3. 3D 星々のスマホ完全復元:
</a:t>
            </a:r>
            <a:pPr indent="0" marL="0">
              <a:buNone/>
            </a:pPr>
            <a:r>
              <a:rPr lang="en-US" sz="1000" dirty="0">
                <a:solidFill>
                  <a:srgbClr val="94A3B8"/>
                </a:solidFill>
              </a:rPr>
              <a:t>   initialArticles プロパティ受け渡し修復により、全28個の星々がスマホでも100%描画。</a:t>
            </a:r>
            <a:endParaRPr lang="en-US" sz="1000" dirty="0"/>
          </a:p>
        </p:txBody>
      </p:sp>
      <p:sp>
        <p:nvSpPr>
          <p:cNvPr id="8" name="Shape 6"/>
          <p:cNvSpPr/>
          <p:nvPr/>
        </p:nvSpPr>
        <p:spPr>
          <a:xfrm>
            <a:off x="6217920" y="1463040"/>
            <a:ext cx="5303520" cy="4389120"/>
          </a:xfrm>
          <a:prstGeom prst="roundRect">
            <a:avLst>
              <a:gd name="adj" fmla="val 2083"/>
            </a:avLst>
          </a:prstGeom>
          <a:solidFill>
            <a:srgbClr val="0A1124"/>
          </a:solidFill>
          <a:ln w="12700">
            <a:solidFill>
              <a:srgbClr val="2FD9F4"/>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algn="ctr" indent="0" marL="0">
              <a:buNone/>
            </a:pPr>
            <a:r>
              <a:rPr lang="en-US" sz="1200" b="1" dirty="0">
                <a:solidFill>
                  <a:srgbClr val="2FD9F4"/>
                </a:solidFill>
              </a:rPr>
              <a:t>【スマホ版レスポンシブ画面 (v1.2.1 リリース)】</a:t>
            </a:r>
            <a:endParaRPr lang="en-US" sz="1200" dirty="0"/>
          </a:p>
        </p:txBody>
      </p:sp>
      <p:sp>
        <p:nvSpPr>
          <p:cNvPr id="10" name="Shape 8"/>
          <p:cNvSpPr/>
          <p:nvPr/>
        </p:nvSpPr>
        <p:spPr>
          <a:xfrm>
            <a:off x="7132320" y="2103120"/>
            <a:ext cx="3474720" cy="3474720"/>
          </a:xfrm>
          <a:prstGeom prst="roundRect">
            <a:avLst>
              <a:gd name="adj" fmla="val 3947"/>
            </a:avLst>
          </a:prstGeom>
          <a:solidFill>
            <a:srgbClr val="0E172A"/>
          </a:solidFill>
          <a:ln w="19050">
            <a:solidFill>
              <a:srgbClr val="38BDF8"/>
            </a:solidFill>
            <a:prstDash val="solid"/>
          </a:ln>
        </p:spPr>
      </p:sp>
      <p:sp>
        <p:nvSpPr>
          <p:cNvPr id="11" name="Text 9"/>
          <p:cNvSpPr/>
          <p:nvPr/>
        </p:nvSpPr>
        <p:spPr>
          <a:xfrm>
            <a:off x="7223760" y="2468880"/>
            <a:ext cx="3291840" cy="2743200"/>
          </a:xfrm>
          <a:prstGeom prst="rect">
            <a:avLst/>
          </a:prstGeom>
          <a:noFill/>
          <a:ln/>
        </p:spPr>
        <p:txBody>
          <a:bodyPr wrap="square" rtlCol="0" anchor="ctr"/>
          <a:lstStyle/>
          <a:p>
            <a:pPr algn="ctr" indent="0" marL="0">
              <a:buNone/>
            </a:pPr>
            <a:r>
              <a:rPr lang="en-US" sz="1100" dirty="0">
                <a:solidFill>
                  <a:srgbClr val="FFFFFF"/>
                </a:solidFill>
              </a:rPr>
              <a:t>📱 MOBILE VIEW</a:t>
            </a:r>
            <a:endParaRPr lang="en-US" sz="1100" dirty="0"/>
          </a:p>
          <a:p>
            <a:pPr algn="ctr" indent="0" marL="0">
              <a:buNone/>
            </a:pPr>
            <a:endParaRPr lang="en-US" sz="1100" dirty="0"/>
          </a:p>
          <a:p>
            <a:pPr algn="ctr" indent="0" marL="0">
              <a:buNone/>
            </a:pPr>
            <a:r>
              <a:rPr lang="en-US" sz="1100" dirty="0">
                <a:solidFill>
                  <a:srgbClr val="FFFFFF"/>
                </a:solidFill>
              </a:rPr>
              <a:t>・最上部: 乗船手続き (z-50)</a:t>
            </a:r>
            <a:endParaRPr lang="en-US" sz="1100" dirty="0"/>
          </a:p>
          <a:p>
            <a:pPr algn="ctr" indent="0" marL="0">
              <a:buNone/>
            </a:pPr>
            <a:r>
              <a:rPr lang="en-US" sz="1100" dirty="0">
                <a:solidFill>
                  <a:srgbClr val="FFFFFF"/>
                </a:solidFill>
              </a:rPr>
              <a:t>・中央: 3D 星海図 Canvas</a:t>
            </a:r>
            <a:endParaRPr lang="en-US" sz="1100" dirty="0"/>
          </a:p>
          <a:p>
            <a:pPr algn="ctr" indent="0" marL="0">
              <a:buNone/>
            </a:pPr>
            <a:r>
              <a:rPr lang="en-US" sz="1100" dirty="0">
                <a:solidFill>
                  <a:srgbClr val="FFFFFF"/>
                </a:solidFill>
              </a:rPr>
              <a:t>・右上真下: AI ガイド</a:t>
            </a:r>
            <a:endParaRPr lang="en-US" sz="1100" dirty="0"/>
          </a:p>
          <a:p>
            <a:pPr algn="ctr" indent="0" marL="0">
              <a:buNone/>
            </a:pPr>
            <a:r>
              <a:rPr lang="en-US" sz="1100" dirty="0">
                <a:solidFill>
                  <a:srgbClr val="FFFFFF"/>
                </a:solidFill>
              </a:rPr>
              <a:t>・最下部: ボトムシート</a:t>
            </a:r>
            <a:endParaRPr lang="en-US" sz="1100" dirty="0"/>
          </a:p>
          <a:p>
            <a:pPr algn="ctr" indent="0" marL="0">
              <a:buNone/>
            </a:pPr>
            <a:r>
              <a:rPr lang="en-US" sz="1100" dirty="0">
                <a:solidFill>
                  <a:srgbClr val="FFFFFF"/>
                </a:solidFill>
              </a:rPr>
              <a:t>(重なり 0% 完全解消)</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11. KPI &amp; VERIFICATION</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「MOOC完走率 5〜13%」の限界に対し「星座完成率 30%」を目指す定量検証モデル</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34D399"/>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34D399"/>
                </a:solidFill>
              </a:rPr>
              <a:t>【社会課題と接続されたプロダクト KPI】</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1. 完走率の劇的改善:
</a:t>
            </a:r>
            <a:pPr indent="0" marL="0">
              <a:buNone/>
            </a:pPr>
            <a:r>
              <a:rPr lang="en-US" sz="1000" dirty="0">
                <a:solidFill>
                  <a:srgbClr val="94A3B8"/>
                </a:solidFill>
              </a:rPr>
              <a:t>   従来の MOOC/自習メディアの完走率 5%〜13% に対し、</a:t>
            </a:r>
            <a:pPr indent="0" marL="0">
              <a:buNone/>
            </a:pPr>
            <a:r>
              <a:rPr lang="en-US" sz="1000" b="1" dirty="0">
                <a:solidFill>
                  <a:srgbClr val="34D399"/>
                </a:solidFill>
              </a:rPr>
              <a:t>「星座完成率 30%」</a:t>
            </a:r>
            <a:pPr indent="0" marL="0">
              <a:buNone/>
            </a:pPr>
            <a:r>
              <a:rPr lang="en-US" sz="1000" dirty="0">
                <a:solidFill>
                  <a:srgbClr val="94A3B8"/>
                </a:solidFill>
              </a:rPr>
              <a:t> を定着目標に設定。
</a:t>
            </a:r>
            <a:pPr indent="0" marL="0">
              <a:buNone/>
            </a:pPr>
            <a:r>
              <a:rPr lang="en-US" sz="1000" b="1" dirty="0">
                <a:solidFill>
                  <a:srgbClr val="FFFFFF"/>
                </a:solidFill>
              </a:rPr>
              <a:t>2. 回遊率 ＆ 平均滞在時間の向上:
</a:t>
            </a:r>
            <a:pPr indent="0" marL="0">
              <a:buNone/>
            </a:pPr>
            <a:r>
              <a:rPr lang="en-US" sz="1000" dirty="0">
                <a:solidFill>
                  <a:srgbClr val="94A3B8"/>
                </a:solidFill>
              </a:rPr>
              <a:t>   1セッションあたり閲覧記事数を従来の 1.2 ページから </a:t>
            </a:r>
            <a:pPr indent="0" marL="0">
              <a:buNone/>
            </a:pPr>
            <a:r>
              <a:rPr lang="en-US" sz="1000" b="1" dirty="0">
                <a:solidFill>
                  <a:srgbClr val="2FD9F4"/>
                </a:solidFill>
              </a:rPr>
              <a:t>3.5 ページ以上</a:t>
            </a:r>
            <a:pPr indent="0" marL="0">
              <a:buNone/>
            </a:pPr>
            <a:r>
              <a:rPr lang="en-US" sz="1000" dirty="0">
                <a:solidFill>
                  <a:srgbClr val="94A3B8"/>
                </a:solidFill>
              </a:rPr>
              <a:t> へ引き上げる仮説検証。
</a:t>
            </a:r>
            <a:pPr indent="0" marL="0">
              <a:buNone/>
            </a:pPr>
            <a:r>
              <a:rPr lang="en-US" sz="1000" b="1" dirty="0">
                <a:solidFill>
                  <a:srgbClr val="FFFFFF"/>
                </a:solidFill>
              </a:rPr>
              <a:t>3. ブランド価値の計測:
</a:t>
            </a:r>
            <a:pPr indent="0" marL="0">
              <a:buNone/>
            </a:pPr>
            <a:r>
              <a:rPr lang="en-US" sz="1000" dirty="0">
                <a:solidFill>
                  <a:srgbClr val="94A3B8"/>
                </a:solidFill>
              </a:rPr>
              <a:t>   ポートフォリオ経由での問い合わせ・登壇・採用オファーの発生率。</a:t>
            </a:r>
            <a:endParaRPr lang="en-US" sz="1000" dirty="0"/>
          </a:p>
        </p:txBody>
      </p:sp>
      <p:graphicFrame>
        <p:nvGraphicFramePr>
          <p:cNvPr id="8" name="Chart 0" descr=""/>
          <p:cNvGraphicFramePr/>
          <p:nvPr/>
        </p:nvGraphicFramePr>
        <p:xfrm>
          <a:off x="6217920" y="1463040"/>
          <a:ext cx="5303520" cy="43891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48640" y="6035040"/>
            <a:ext cx="10972800" cy="274320"/>
          </a:xfrm>
          <a:prstGeom prst="rect">
            <a:avLst/>
          </a:prstGeom>
          <a:noFill/>
          <a:ln/>
        </p:spPr>
        <p:txBody>
          <a:bodyPr wrap="square" rtlCol="0" anchor="ctr"/>
          <a:lstStyle/>
          <a:p>
            <a:pPr indent="0" marL="0">
              <a:buNone/>
            </a:pPr>
            <a:r>
              <a:rPr lang="en-US" sz="900" dirty="0">
                <a:solidFill>
                  <a:srgbClr val="94A3B8"/>
                </a:solidFill>
              </a:rPr>
              <a:t>参照: Open Praxis Vol.16 (2024) / arXiv:1707.04291 / Accenture BX Report (2020)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12. GITHUB &amp; ADR</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27 件の Issue ＆ 28 件の PR / 12 件の ADR 記録による確実な CI/CD トラッキング</a:t>
            </a:r>
            <a:endParaRPr lang="en-US" sz="1900" dirty="0"/>
          </a:p>
        </p:txBody>
      </p:sp>
      <p:sp>
        <p:nvSpPr>
          <p:cNvPr id="5" name="Shape 3"/>
          <p:cNvSpPr/>
          <p:nvPr/>
        </p:nvSpPr>
        <p:spPr>
          <a:xfrm>
            <a:off x="548640" y="1463040"/>
            <a:ext cx="5303520" cy="4389120"/>
          </a:xfrm>
          <a:prstGeom prst="roundRect">
            <a:avLst>
              <a:gd name="adj" fmla="val 2083"/>
            </a:avLst>
          </a:prstGeom>
          <a:solidFill>
            <a:srgbClr val="131C31"/>
          </a:solidFill>
          <a:ln w="12700">
            <a:solidFill>
              <a:srgbClr val="1E293B"/>
            </a:solidFill>
            <a:prstDash val="solid"/>
          </a:ln>
        </p:spPr>
      </p:sp>
      <p:sp>
        <p:nvSpPr>
          <p:cNvPr id="6" name="Text 4"/>
          <p:cNvSpPr/>
          <p:nvPr/>
        </p:nvSpPr>
        <p:spPr>
          <a:xfrm>
            <a:off x="731520" y="1645920"/>
            <a:ext cx="4937760" cy="365760"/>
          </a:xfrm>
          <a:prstGeom prst="rect">
            <a:avLst/>
          </a:prstGeom>
          <a:noFill/>
          <a:ln/>
        </p:spPr>
        <p:txBody>
          <a:bodyPr wrap="square" rtlCol="0" anchor="ctr"/>
          <a:lstStyle/>
          <a:p>
            <a:pPr indent="0" marL="0">
              <a:buNone/>
            </a:pPr>
            <a:r>
              <a:rPr lang="en-US" sz="1300" b="1" dirty="0">
                <a:solidFill>
                  <a:srgbClr val="2FD9F4"/>
                </a:solidFill>
              </a:rPr>
              <a:t>【GitHub 完全オープン開発トラッキング】</a:t>
            </a:r>
            <a:endParaRPr lang="en-US" sz="1300" dirty="0"/>
          </a:p>
        </p:txBody>
      </p:sp>
      <p:sp>
        <p:nvSpPr>
          <p:cNvPr id="7" name="Text 5"/>
          <p:cNvSpPr/>
          <p:nvPr/>
        </p:nvSpPr>
        <p:spPr>
          <a:xfrm>
            <a:off x="731520" y="2103120"/>
            <a:ext cx="4937760" cy="3566160"/>
          </a:xfrm>
          <a:prstGeom prst="rect">
            <a:avLst/>
          </a:prstGeom>
          <a:noFill/>
          <a:ln/>
        </p:spPr>
        <p:txBody>
          <a:bodyPr wrap="square" lIns="0" tIns="0" rIns="0" bIns="0" rtlCol="0" anchor="ctr"/>
          <a:lstStyle/>
          <a:p>
            <a:pPr indent="0" marL="0">
              <a:buNone/>
            </a:pPr>
            <a:r>
              <a:rPr lang="en-US" sz="1000" b="1" dirty="0">
                <a:solidFill>
                  <a:srgbClr val="FFFFFF"/>
                </a:solidFill>
              </a:rPr>
              <a:t>• 27 件の GitHub Issue ＆ 28 件の Pull Request:
</a:t>
            </a:r>
            <a:pPr indent="0" marL="0">
              <a:buNone/>
            </a:pPr>
            <a:r>
              <a:rPr lang="en-US" sz="1000" dirty="0">
                <a:solidFill>
                  <a:srgbClr val="94A3B8"/>
                </a:solidFill>
              </a:rPr>
              <a:t>  すべての開発機能、バグ修正、UI改善を GitHub 上で完全透明にログ管理。
</a:t>
            </a:r>
            <a:pPr indent="0" marL="0">
              <a:buNone/>
            </a:pPr>
            <a:r>
              <a:rPr lang="en-US" sz="1000" b="1" dirty="0">
                <a:solidFill>
                  <a:srgbClr val="FFFFFF"/>
                </a:solidFill>
              </a:rPr>
              <a:t>• 12 件の ADR (Architecture Decision Records):
</a:t>
            </a:r>
            <a:pPr indent="0" marL="0">
              <a:buNone/>
            </a:pPr>
            <a:r>
              <a:rPr lang="en-US" sz="1000" dirty="0">
                <a:solidFill>
                  <a:srgbClr val="94A3B8"/>
                </a:solidFill>
              </a:rPr>
              <a:t>  docs/decisions.md に設計根拠・意思決定プロセス (ADR-001〜ADR-012) を保存。
</a:t>
            </a:r>
            <a:pPr indent="0" marL="0">
              <a:buNone/>
            </a:pPr>
            <a:r>
              <a:rPr lang="en-US" sz="1000" b="1" dirty="0">
                <a:solidFill>
                  <a:srgbClr val="34D399"/>
                </a:solidFill>
              </a:rPr>
              <a:t>• 即時ロールバック ＆ 自動ビルド検証:
</a:t>
            </a:r>
            <a:pPr indent="0" marL="0">
              <a:buNone/>
            </a:pPr>
            <a:r>
              <a:rPr lang="en-US" sz="1000" dirty="0">
                <a:solidFill>
                  <a:srgbClr val="94A3B8"/>
                </a:solidFill>
              </a:rPr>
              <a:t>  npm run build 検証と Git コミットツリー管理により本番品質を鉄壁担保。</a:t>
            </a:r>
            <a:endParaRPr lang="en-US" sz="1000" dirty="0"/>
          </a:p>
        </p:txBody>
      </p:sp>
      <p:sp>
        <p:nvSpPr>
          <p:cNvPr id="8" name="Shape 6"/>
          <p:cNvSpPr/>
          <p:nvPr/>
        </p:nvSpPr>
        <p:spPr>
          <a:xfrm>
            <a:off x="6217920" y="1463040"/>
            <a:ext cx="5303520" cy="4389120"/>
          </a:xfrm>
          <a:prstGeom prst="roundRect">
            <a:avLst>
              <a:gd name="adj" fmla="val 2083"/>
            </a:avLst>
          </a:prstGeom>
          <a:solidFill>
            <a:srgbClr val="131C31"/>
          </a:solidFill>
          <a:ln w="12700">
            <a:solidFill>
              <a:srgbClr val="34D399"/>
            </a:solidFill>
            <a:prstDash val="solid"/>
          </a:ln>
        </p:spPr>
      </p:sp>
      <p:sp>
        <p:nvSpPr>
          <p:cNvPr id="9" name="Text 7"/>
          <p:cNvSpPr/>
          <p:nvPr/>
        </p:nvSpPr>
        <p:spPr>
          <a:xfrm>
            <a:off x="6400800" y="1645920"/>
            <a:ext cx="4937760" cy="365760"/>
          </a:xfrm>
          <a:prstGeom prst="rect">
            <a:avLst/>
          </a:prstGeom>
          <a:noFill/>
          <a:ln/>
        </p:spPr>
        <p:txBody>
          <a:bodyPr wrap="square" rtlCol="0" anchor="ctr"/>
          <a:lstStyle/>
          <a:p>
            <a:pPr indent="0" marL="0">
              <a:buNone/>
            </a:pPr>
            <a:r>
              <a:rPr lang="en-US" sz="1200" b="1" dirty="0">
                <a:solidFill>
                  <a:srgbClr val="34D399"/>
                </a:solidFill>
              </a:rPr>
              <a:t>【アーキテクチャ意思決定プロセス (ADR サマリー)】</a:t>
            </a:r>
            <a:endParaRPr lang="en-US" sz="1200" dirty="0"/>
          </a:p>
        </p:txBody>
      </p:sp>
      <p:sp>
        <p:nvSpPr>
          <p:cNvPr id="10" name="Text 8"/>
          <p:cNvSpPr/>
          <p:nvPr/>
        </p:nvSpPr>
        <p:spPr>
          <a:xfrm>
            <a:off x="6400800" y="2103120"/>
            <a:ext cx="4937760" cy="3566160"/>
          </a:xfrm>
          <a:prstGeom prst="rect">
            <a:avLst/>
          </a:prstGeom>
          <a:noFill/>
          <a:ln/>
        </p:spPr>
        <p:txBody>
          <a:bodyPr wrap="square" lIns="0" tIns="0" rIns="0" bIns="0" rtlCol="0" anchor="ctr"/>
          <a:lstStyle/>
          <a:p>
            <a:pPr indent="0" marL="0">
              <a:buNone/>
            </a:pPr>
            <a:r>
              <a:rPr lang="en-US" sz="950" b="1" dirty="0">
                <a:solidFill>
                  <a:srgbClr val="2FD9F4"/>
                </a:solidFill>
              </a:rPr>
              <a:t>・ADR-001: </a:t>
            </a:r>
            <a:pPr indent="0" marL="0">
              <a:buNone/>
            </a:pPr>
            <a:r>
              <a:rPr lang="en-US" sz="950" dirty="0">
                <a:solidFill>
                  <a:srgbClr val="94A3B8"/>
                </a:solidFill>
              </a:rPr>
              <a:t>ETL パイプラインと UMAP 3D 空間マッピング採用
</a:t>
            </a:r>
            <a:pPr indent="0" marL="0">
              <a:buNone/>
            </a:pPr>
            <a:r>
              <a:rPr lang="en-US" sz="950" b="1" dirty="0">
                <a:solidFill>
                  <a:srgbClr val="2FD9F4"/>
                </a:solidFill>
              </a:rPr>
              <a:t>・ADR-005: </a:t>
            </a:r>
            <a:pPr indent="0" marL="0">
              <a:buNone/>
            </a:pPr>
            <a:r>
              <a:rPr lang="en-US" sz="950" dirty="0">
                <a:solidFill>
                  <a:srgbClr val="94A3B8"/>
                </a:solidFill>
              </a:rPr>
              <a:t>Seikai オリジナルブランドカラーバレット統一
</a:t>
            </a:r>
            <a:pPr indent="0" marL="0">
              <a:buNone/>
            </a:pPr>
            <a:r>
              <a:rPr lang="en-US" sz="950" b="1" dirty="0">
                <a:solidFill>
                  <a:srgbClr val="2FD9F4"/>
                </a:solidFill>
              </a:rPr>
              <a:t>・ADR-009: </a:t>
            </a:r>
            <a:pPr indent="0" marL="0">
              <a:buNone/>
            </a:pPr>
            <a:r>
              <a:rPr lang="en-US" sz="950" dirty="0">
                <a:solidFill>
                  <a:srgbClr val="94A3B8"/>
                </a:solidFill>
              </a:rPr>
              <a:t>Firebase AI Logic (@google/genai) 統合
</a:t>
            </a:r>
            <a:pPr indent="0" marL="0">
              <a:buNone/>
            </a:pPr>
            <a:r>
              <a:rPr lang="en-US" sz="950" b="1" dirty="0">
                <a:solidFill>
                  <a:srgbClr val="2FD9F4"/>
                </a:solidFill>
              </a:rPr>
              <a:t>・ADR-010: </a:t>
            </a:r>
            <a:pPr indent="0" marL="0">
              <a:buNone/>
            </a:pPr>
            <a:r>
              <a:rPr lang="en-US" sz="950" dirty="0">
                <a:solidFill>
                  <a:srgbClr val="94A3B8"/>
                </a:solidFill>
              </a:rPr>
              <a:t>reCAPTCHA Enterprise App Check 鉄壁保護
</a:t>
            </a:r>
            <a:pPr indent="0" marL="0">
              <a:buNone/>
            </a:pPr>
            <a:r>
              <a:rPr lang="en-US" sz="950" b="1" dirty="0">
                <a:solidFill>
                  <a:srgbClr val="2FD9F4"/>
                </a:solidFill>
              </a:rPr>
              <a:t>・ADR-011: </a:t>
            </a:r>
            <a:pPr indent="0" marL="0">
              <a:buNone/>
            </a:pPr>
            <a:r>
              <a:rPr lang="en-US" sz="950" dirty="0">
                <a:solidFill>
                  <a:srgbClr val="94A3B8"/>
                </a:solidFill>
              </a:rPr>
              <a:t>モバイル専用ボトムシート ＆ left-0 ドロワー
</a:t>
            </a:r>
            <a:pPr indent="0" marL="0">
              <a:buNone/>
            </a:pPr>
            <a:r>
              <a:rPr lang="en-US" sz="950" b="1" dirty="0">
                <a:solidFill>
                  <a:srgbClr val="2FD9F4"/>
                </a:solidFill>
              </a:rPr>
              <a:t>・ADR-012: </a:t>
            </a:r>
            <a:pPr indent="0" marL="0">
              <a:buNone/>
            </a:pPr>
            <a:r>
              <a:rPr lang="en-US" sz="950" dirty="0">
                <a:solidFill>
                  <a:srgbClr val="94A3B8"/>
                </a:solidFill>
              </a:rPr>
              <a:t>DRAFT ステータスタグバッジ ＆ PPTX 自動生成</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F1E"/>
        </a:solidFill>
      </p:bgPr>
    </p:bg>
    <p:spTree>
      <p:nvGrpSpPr>
        <p:cNvPr id="1" name=""/>
        <p:cNvGrpSpPr/>
        <p:nvPr/>
      </p:nvGrpSpPr>
      <p:grpSpPr>
        <a:xfrm>
          <a:off x="0" y="0"/>
          <a:ext cx="0" cy="0"/>
          <a:chOff x="0" y="0"/>
          <a:chExt cx="0" cy="0"/>
        </a:xfrm>
      </p:grpSpPr>
      <p:sp>
        <p:nvSpPr>
          <p:cNvPr id="2" name="Shape 0"/>
          <p:cNvSpPr/>
          <p:nvPr/>
        </p:nvSpPr>
        <p:spPr>
          <a:xfrm>
            <a:off x="548640" y="365760"/>
            <a:ext cx="2377440" cy="320040"/>
          </a:xfrm>
          <a:prstGeom prst="roundRect">
            <a:avLst>
              <a:gd name="adj" fmla="val 28571"/>
            </a:avLst>
          </a:prstGeom>
          <a:solidFill>
            <a:srgbClr val="1E293B"/>
          </a:solidFill>
          <a:ln w="12700">
            <a:solidFill>
              <a:srgbClr val="38BDF8"/>
            </a:solidFill>
            <a:prstDash val="solid"/>
          </a:ln>
        </p:spPr>
      </p:sp>
      <p:sp>
        <p:nvSpPr>
          <p:cNvPr id="3" name="Text 1"/>
          <p:cNvSpPr/>
          <p:nvPr/>
        </p:nvSpPr>
        <p:spPr>
          <a:xfrm>
            <a:off x="548640" y="365760"/>
            <a:ext cx="2377440" cy="320040"/>
          </a:xfrm>
          <a:prstGeom prst="rect">
            <a:avLst/>
          </a:prstGeom>
          <a:noFill/>
          <a:ln/>
        </p:spPr>
        <p:txBody>
          <a:bodyPr wrap="square" lIns="0" tIns="0" rIns="0" bIns="0" rtlCol="0" anchor="ctr"/>
          <a:lstStyle/>
          <a:p>
            <a:pPr algn="ctr" indent="0" marL="0">
              <a:buNone/>
            </a:pPr>
            <a:r>
              <a:rPr lang="en-US" sz="1000" b="1" dirty="0">
                <a:solidFill>
                  <a:srgbClr val="2FD9F4"/>
                </a:solidFill>
                <a:latin typeface="Orbitron" pitchFamily="34" charset="0"/>
                <a:ea typeface="Orbitron" pitchFamily="34" charset="-122"/>
                <a:cs typeface="Orbitron" pitchFamily="34" charset="-120"/>
              </a:rPr>
              <a:t>13. FUTURE ROADMAP</a:t>
            </a:r>
            <a:endParaRPr lang="en-US" sz="1000" dirty="0"/>
          </a:p>
        </p:txBody>
      </p:sp>
      <p:sp>
        <p:nvSpPr>
          <p:cNvPr id="4" name="Text 2"/>
          <p:cNvSpPr/>
          <p:nvPr/>
        </p:nvSpPr>
        <p:spPr>
          <a:xfrm>
            <a:off x="548640" y="777240"/>
            <a:ext cx="10972800" cy="54864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個人ポートフォリオから組織内知見ナレッジグラフへ — Cloud Next Tokyo デモ予告</a:t>
            </a:r>
            <a:endParaRPr lang="en-US" sz="1900" dirty="0"/>
          </a:p>
        </p:txBody>
      </p:sp>
      <p:sp>
        <p:nvSpPr>
          <p:cNvPr id="5" name="Shape 3"/>
          <p:cNvSpPr/>
          <p:nvPr/>
        </p:nvSpPr>
        <p:spPr>
          <a:xfrm>
            <a:off x="548640" y="1463040"/>
            <a:ext cx="3474720" cy="4389120"/>
          </a:xfrm>
          <a:prstGeom prst="roundRect">
            <a:avLst>
              <a:gd name="adj" fmla="val 2632"/>
            </a:avLst>
          </a:prstGeom>
          <a:solidFill>
            <a:srgbClr val="131C31"/>
          </a:solidFill>
          <a:ln w="12700">
            <a:solidFill>
              <a:srgbClr val="2FD9F4"/>
            </a:solidFill>
            <a:prstDash val="solid"/>
          </a:ln>
        </p:spPr>
      </p:sp>
      <p:sp>
        <p:nvSpPr>
          <p:cNvPr id="6" name="Text 4"/>
          <p:cNvSpPr/>
          <p:nvPr/>
        </p:nvSpPr>
        <p:spPr>
          <a:xfrm>
            <a:off x="731520" y="1645920"/>
            <a:ext cx="3108960" cy="365760"/>
          </a:xfrm>
          <a:prstGeom prst="rect">
            <a:avLst/>
          </a:prstGeom>
          <a:noFill/>
          <a:ln/>
        </p:spPr>
        <p:txBody>
          <a:bodyPr wrap="square" rtlCol="0" anchor="ctr"/>
          <a:lstStyle/>
          <a:p>
            <a:pPr indent="0" marL="0">
              <a:buNone/>
            </a:pPr>
            <a:r>
              <a:rPr lang="en-US" sz="1200" b="1" dirty="0">
                <a:solidFill>
                  <a:srgbClr val="2FD9F4"/>
                </a:solidFill>
              </a:rPr>
              <a:t>Phase 1: 概念実証・公開 (現在)</a:t>
            </a:r>
            <a:endParaRPr lang="en-US" sz="1200" dirty="0"/>
          </a:p>
        </p:txBody>
      </p:sp>
      <p:sp>
        <p:nvSpPr>
          <p:cNvPr id="7" name="Text 5"/>
          <p:cNvSpPr/>
          <p:nvPr/>
        </p:nvSpPr>
        <p:spPr>
          <a:xfrm>
            <a:off x="731520" y="2103120"/>
            <a:ext cx="3108960" cy="3474720"/>
          </a:xfrm>
          <a:prstGeom prst="rect">
            <a:avLst/>
          </a:prstGeom>
          <a:noFill/>
          <a:ln/>
        </p:spPr>
        <p:txBody>
          <a:bodyPr wrap="square" rtlCol="0" anchor="ctr"/>
          <a:lstStyle/>
          <a:p>
            <a:pPr indent="0" marL="0">
              <a:buNone/>
            </a:pPr>
            <a:r>
              <a:rPr lang="en-US" sz="1000" dirty="0">
                <a:solidFill>
                  <a:srgbClr val="94A3B8"/>
                </a:solidFill>
              </a:rPr>
              <a:t>✓ 3D 星海図 (Vertex AI Embedding)</a:t>
            </a:r>
            <a:endParaRPr lang="en-US" sz="1000" dirty="0"/>
          </a:p>
          <a:p>
            <a:pPr indent="0" marL="0">
              <a:buNone/>
            </a:pPr>
            <a:r>
              <a:rPr lang="en-US" sz="1000" dirty="0">
                <a:solidFill>
                  <a:srgbClr val="94A3B8"/>
                </a:solidFill>
              </a:rPr>
              <a:t>✓ Gemini 3.5 Flash RAG 対話</a:t>
            </a:r>
            <a:endParaRPr lang="en-US" sz="1000" dirty="0"/>
          </a:p>
          <a:p>
            <a:pPr indent="0" marL="0">
              <a:buNone/>
            </a:pPr>
            <a:r>
              <a:rPr lang="en-US" sz="1000" dirty="0">
                <a:solidFill>
                  <a:srgbClr val="94A3B8"/>
                </a:solidFill>
              </a:rPr>
              <a:t>✓ Firebase App Check ＆ リアルタイム掲示板</a:t>
            </a:r>
            <a:endParaRPr lang="en-US" sz="1000" dirty="0"/>
          </a:p>
          <a:p>
            <a:pPr indent="0" marL="0">
              <a:buNone/>
            </a:pPr>
            <a:r>
              <a:rPr lang="en-US" sz="1000" dirty="0">
                <a:solidFill>
                  <a:srgbClr val="94A3B8"/>
                </a:solidFill>
              </a:rPr>
              <a:t>✓ 本番運用 (geodyssai.com)</a:t>
            </a:r>
            <a:endParaRPr lang="en-US" sz="1000" dirty="0"/>
          </a:p>
        </p:txBody>
      </p:sp>
      <p:sp>
        <p:nvSpPr>
          <p:cNvPr id="8" name="Shape 6"/>
          <p:cNvSpPr/>
          <p:nvPr/>
        </p:nvSpPr>
        <p:spPr>
          <a:xfrm>
            <a:off x="4297680" y="1463040"/>
            <a:ext cx="3474720" cy="4389120"/>
          </a:xfrm>
          <a:prstGeom prst="roundRect">
            <a:avLst>
              <a:gd name="adj" fmla="val 2632"/>
            </a:avLst>
          </a:prstGeom>
          <a:solidFill>
            <a:srgbClr val="131C31"/>
          </a:solidFill>
          <a:ln w="12700">
            <a:solidFill>
              <a:srgbClr val="38BDF8"/>
            </a:solidFill>
            <a:prstDash val="solid"/>
          </a:ln>
        </p:spPr>
      </p:sp>
      <p:sp>
        <p:nvSpPr>
          <p:cNvPr id="9" name="Text 7"/>
          <p:cNvSpPr/>
          <p:nvPr/>
        </p:nvSpPr>
        <p:spPr>
          <a:xfrm>
            <a:off x="4480560" y="1645920"/>
            <a:ext cx="3108960" cy="365760"/>
          </a:xfrm>
          <a:prstGeom prst="rect">
            <a:avLst/>
          </a:prstGeom>
          <a:noFill/>
          <a:ln/>
        </p:spPr>
        <p:txBody>
          <a:bodyPr wrap="square" rtlCol="0" anchor="ctr"/>
          <a:lstStyle/>
          <a:p>
            <a:pPr indent="0" marL="0">
              <a:buNone/>
            </a:pPr>
            <a:r>
              <a:rPr lang="en-US" sz="1200" b="1" dirty="0">
                <a:solidFill>
                  <a:srgbClr val="38BDF8"/>
                </a:solidFill>
              </a:rPr>
              <a:t>Phase 2: 企業・チーム拡張</a:t>
            </a:r>
            <a:endParaRPr lang="en-US" sz="1200" dirty="0"/>
          </a:p>
        </p:txBody>
      </p:sp>
      <p:sp>
        <p:nvSpPr>
          <p:cNvPr id="10" name="Text 8"/>
          <p:cNvSpPr/>
          <p:nvPr/>
        </p:nvSpPr>
        <p:spPr>
          <a:xfrm>
            <a:off x="4480560" y="2103120"/>
            <a:ext cx="3108960" cy="3474720"/>
          </a:xfrm>
          <a:prstGeom prst="rect">
            <a:avLst/>
          </a:prstGeom>
          <a:noFill/>
          <a:ln/>
        </p:spPr>
        <p:txBody>
          <a:bodyPr wrap="square" rtlCol="0" anchor="ctr"/>
          <a:lstStyle/>
          <a:p>
            <a:pPr indent="0" marL="0">
              <a:buNone/>
            </a:pPr>
            <a:r>
              <a:rPr lang="en-US" sz="1000" dirty="0">
                <a:solidFill>
                  <a:srgbClr val="94A3B8"/>
                </a:solidFill>
              </a:rPr>
              <a:t>• 企業内 Confluence / Notion 自動連携</a:t>
            </a:r>
            <a:endParaRPr lang="en-US" sz="1000" dirty="0"/>
          </a:p>
          <a:p>
            <a:pPr indent="0" marL="0">
              <a:buNone/>
            </a:pPr>
            <a:r>
              <a:rPr lang="en-US" sz="1000" dirty="0">
                <a:solidFill>
                  <a:srgbClr val="94A3B8"/>
                </a:solidFill>
              </a:rPr>
              <a:t>• チームごとの「知の星系」マルチテナント化</a:t>
            </a:r>
            <a:endParaRPr lang="en-US" sz="1000" dirty="0"/>
          </a:p>
          <a:p>
            <a:pPr indent="0" marL="0">
              <a:buNone/>
            </a:pPr>
            <a:r>
              <a:rPr lang="en-US" sz="1000" dirty="0">
                <a:solidFill>
                  <a:srgbClr val="94A3B8"/>
                </a:solidFill>
              </a:rPr>
              <a:t>• 読書完了証明 (Stardust NFT/Badge)</a:t>
            </a:r>
            <a:endParaRPr lang="en-US" sz="1000" dirty="0"/>
          </a:p>
        </p:txBody>
      </p:sp>
      <p:sp>
        <p:nvSpPr>
          <p:cNvPr id="11" name="Shape 9"/>
          <p:cNvSpPr/>
          <p:nvPr/>
        </p:nvSpPr>
        <p:spPr>
          <a:xfrm>
            <a:off x="8046720" y="1463040"/>
            <a:ext cx="3474720" cy="4389120"/>
          </a:xfrm>
          <a:prstGeom prst="roundRect">
            <a:avLst>
              <a:gd name="adj" fmla="val 2632"/>
            </a:avLst>
          </a:prstGeom>
          <a:solidFill>
            <a:srgbClr val="131C31"/>
          </a:solidFill>
          <a:ln w="19050">
            <a:solidFill>
              <a:srgbClr val="34D399"/>
            </a:solidFill>
            <a:prstDash val="solid"/>
          </a:ln>
        </p:spPr>
      </p:sp>
      <p:sp>
        <p:nvSpPr>
          <p:cNvPr id="12" name="Text 10"/>
          <p:cNvSpPr/>
          <p:nvPr/>
        </p:nvSpPr>
        <p:spPr>
          <a:xfrm>
            <a:off x="8229600" y="1645920"/>
            <a:ext cx="3108960" cy="365760"/>
          </a:xfrm>
          <a:prstGeom prst="rect">
            <a:avLst/>
          </a:prstGeom>
          <a:noFill/>
          <a:ln/>
        </p:spPr>
        <p:txBody>
          <a:bodyPr wrap="square" rtlCol="0" anchor="ctr"/>
          <a:lstStyle/>
          <a:p>
            <a:pPr indent="0" marL="0">
              <a:buNone/>
            </a:pPr>
            <a:r>
              <a:rPr lang="en-US" sz="1200" b="1" dirty="0">
                <a:solidFill>
                  <a:srgbClr val="34D399"/>
                </a:solidFill>
              </a:rPr>
              <a:t>Phase 3: Next Tokyo デモ発表</a:t>
            </a:r>
            <a:endParaRPr lang="en-US" sz="1200" dirty="0"/>
          </a:p>
        </p:txBody>
      </p:sp>
      <p:sp>
        <p:nvSpPr>
          <p:cNvPr id="13" name="Text 11"/>
          <p:cNvSpPr/>
          <p:nvPr/>
        </p:nvSpPr>
        <p:spPr>
          <a:xfrm>
            <a:off x="8229600" y="2103120"/>
            <a:ext cx="3108960" cy="3474720"/>
          </a:xfrm>
          <a:prstGeom prst="rect">
            <a:avLst/>
          </a:prstGeom>
          <a:noFill/>
          <a:ln/>
        </p:spPr>
        <p:txBody>
          <a:bodyPr wrap="square" rtlCol="0" anchor="ctr"/>
          <a:lstStyle/>
          <a:p>
            <a:pPr indent="0" marL="0">
              <a:buNone/>
            </a:pPr>
            <a:r>
              <a:rPr lang="en-US" sz="1000" b="1" dirty="0">
                <a:solidFill>
                  <a:srgbClr val="34D399"/>
                </a:solidFill>
              </a:rPr>
              <a:t>✦ Google Cloud Next Tokyo デモストレーション</a:t>
            </a:r>
            <a:endParaRPr lang="en-US" sz="1000" dirty="0"/>
          </a:p>
          <a:p>
            <a:pPr indent="0" marL="0">
              <a:buNone/>
            </a:pPr>
            <a:r>
              <a:rPr lang="en-US" sz="1000" b="1" dirty="0">
                <a:solidFill>
                  <a:srgbClr val="34D399"/>
                </a:solidFill>
              </a:rPr>
              <a:t>✦ 会場参加型のリアルタイム 3D 星海図操作</a:t>
            </a:r>
            <a:endParaRPr lang="en-US" sz="1000" dirty="0"/>
          </a:p>
          <a:p>
            <a:pPr indent="0" marL="0">
              <a:buNone/>
            </a:pPr>
            <a:r>
              <a:rPr lang="en-US" sz="1000" b="1" dirty="0">
                <a:solidFill>
                  <a:srgbClr val="34D399"/>
                </a:solidFill>
              </a:rPr>
              <a:t>✦ 没入型ナレッジ基盤の未来を提示</a:t>
            </a:r>
            <a:endParaRPr lang="en-US" sz="1000" dirty="0"/>
          </a:p>
        </p:txBody>
      </p:sp>
      <p:sp>
        <p:nvSpPr>
          <p:cNvPr id="14" name="Text 12"/>
          <p:cNvSpPr/>
          <p:nvPr/>
        </p:nvSpPr>
        <p:spPr>
          <a:xfrm>
            <a:off x="548640" y="6035040"/>
            <a:ext cx="10972800" cy="365760"/>
          </a:xfrm>
          <a:prstGeom prst="rect">
            <a:avLst/>
          </a:prstGeom>
          <a:noFill/>
          <a:ln/>
        </p:spPr>
        <p:txBody>
          <a:bodyPr wrap="square" rtlCol="0" anchor="ctr"/>
          <a:lstStyle/>
          <a:p>
            <a:pPr algn="ctr" indent="0" marL="0">
              <a:buNone/>
            </a:pPr>
            <a:r>
              <a:rPr lang="en-US" sz="1300" b="1" dirty="0">
                <a:solidFill>
                  <a:srgbClr val="2FD9F4"/>
                </a:solidFill>
              </a:rPr>
              <a:t>https://www.geodyssai.com — ご清聴ありがとうございました。Cloud Next Tokyo でお会いしましょう！</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geodyssAI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geodyssAI (星海図) - Google Cloud Next Tokyo Final Presentation</dc:title>
  <dc:subject>PptxGenJS Presentation</dc:subject>
  <dc:creator>Yuta Tokita (baotianyoutai)</dc:creator>
  <cp:lastModifiedBy>Yuta Tokita (baotianyoutai)</cp:lastModifiedBy>
  <cp:revision>1</cp:revision>
  <dcterms:created xsi:type="dcterms:W3CDTF">2026-07-27T00:03:09Z</dcterms:created>
  <dcterms:modified xsi:type="dcterms:W3CDTF">2026-07-27T00:03:09Z</dcterms:modified>
</cp:coreProperties>
</file>